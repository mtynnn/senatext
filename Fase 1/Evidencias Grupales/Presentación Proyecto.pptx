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Nuni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XrtKiAgfBGEUxzTG98F8uCpU2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Sans-bold.fntdata"/><Relationship Id="rId25" Type="http://schemas.openxmlformats.org/officeDocument/2006/relationships/font" Target="fonts/NunitoSans-regular.fntdata"/><Relationship Id="rId28" Type="http://schemas.openxmlformats.org/officeDocument/2006/relationships/font" Target="fonts/NunitoSans-boldItalic.fntdata"/><Relationship Id="rId27" Type="http://schemas.openxmlformats.org/officeDocument/2006/relationships/font" Target="fonts/Nuni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9bca7d2e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f9bca7d2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9bca7d2e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9bca7d2e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bca7d2e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9bca7d2e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bca7d2e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9bca7d2e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9bca7d2e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9bca7d2e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9d5485513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9d5485513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9dec4197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9dec4197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dec419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9dec419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9db6a4e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f9db6a4e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9d5485513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f9d5485513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9bca7d2e9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f9bca7d2e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9d548551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f9d548551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1"/>
          <p:cNvSpPr/>
          <p:nvPr/>
        </p:nvSpPr>
        <p:spPr>
          <a:xfrm>
            <a:off x="0" y="3737865"/>
            <a:ext cx="2288049" cy="1405603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51"/>
          <p:cNvSpPr/>
          <p:nvPr/>
        </p:nvSpPr>
        <p:spPr>
          <a:xfrm rot="-5400000">
            <a:off x="4035678" y="-601923"/>
            <a:ext cx="1199426" cy="2403326"/>
          </a:xfrm>
          <a:custGeom>
            <a:rect b="b" l="l" r="r" t="t"/>
            <a:pathLst>
              <a:path extrusionOk="0" h="75749" w="37804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1"/>
          <p:cNvSpPr txBox="1"/>
          <p:nvPr>
            <p:ph type="ctrTitle"/>
          </p:nvPr>
        </p:nvSpPr>
        <p:spPr>
          <a:xfrm>
            <a:off x="713100" y="744575"/>
            <a:ext cx="37764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713100" y="2797175"/>
            <a:ext cx="2286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2"/>
          <p:cNvSpPr/>
          <p:nvPr/>
        </p:nvSpPr>
        <p:spPr>
          <a:xfrm>
            <a:off x="0" y="0"/>
            <a:ext cx="783234" cy="783234"/>
          </a:xfrm>
          <a:custGeom>
            <a:rect b="b" l="l" r="r" t="t"/>
            <a:pathLst>
              <a:path extrusionOk="0" h="47780" w="4778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2"/>
          <p:cNvSpPr/>
          <p:nvPr/>
        </p:nvSpPr>
        <p:spPr>
          <a:xfrm flipH="1">
            <a:off x="7436601" y="4703625"/>
            <a:ext cx="1707399" cy="439865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2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3"/>
          <p:cNvSpPr/>
          <p:nvPr/>
        </p:nvSpPr>
        <p:spPr>
          <a:xfrm>
            <a:off x="0" y="2178050"/>
            <a:ext cx="7062687" cy="2965494"/>
          </a:xfrm>
          <a:custGeom>
            <a:rect b="b" l="l" r="r" t="t"/>
            <a:pathLst>
              <a:path extrusionOk="0" h="38994" w="92869">
                <a:moveTo>
                  <a:pt x="0" y="0"/>
                </a:moveTo>
                <a:lnTo>
                  <a:pt x="0" y="38993"/>
                </a:lnTo>
                <a:lnTo>
                  <a:pt x="92869" y="38993"/>
                </a:lnTo>
                <a:cubicBezTo>
                  <a:pt x="92869" y="17455"/>
                  <a:pt x="75414" y="0"/>
                  <a:pt x="53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3"/>
          <p:cNvSpPr/>
          <p:nvPr/>
        </p:nvSpPr>
        <p:spPr>
          <a:xfrm rot="10800000">
            <a:off x="6855950" y="-10"/>
            <a:ext cx="2288049" cy="1405603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3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" type="subTitle"/>
          </p:nvPr>
        </p:nvSpPr>
        <p:spPr>
          <a:xfrm>
            <a:off x="1483225" y="152750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53"/>
          <p:cNvSpPr txBox="1"/>
          <p:nvPr>
            <p:ph idx="2" type="subTitle"/>
          </p:nvPr>
        </p:nvSpPr>
        <p:spPr>
          <a:xfrm>
            <a:off x="1483225" y="187318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3" type="title"/>
          </p:nvPr>
        </p:nvSpPr>
        <p:spPr>
          <a:xfrm>
            <a:off x="99682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53"/>
          <p:cNvSpPr txBox="1"/>
          <p:nvPr>
            <p:ph idx="4" type="subTitle"/>
          </p:nvPr>
        </p:nvSpPr>
        <p:spPr>
          <a:xfrm>
            <a:off x="5365375" y="152750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53"/>
          <p:cNvSpPr txBox="1"/>
          <p:nvPr>
            <p:ph idx="5" type="subTitle"/>
          </p:nvPr>
        </p:nvSpPr>
        <p:spPr>
          <a:xfrm>
            <a:off x="5365375" y="187318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6" type="title"/>
          </p:nvPr>
        </p:nvSpPr>
        <p:spPr>
          <a:xfrm>
            <a:off x="487897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3"/>
          <p:cNvSpPr txBox="1"/>
          <p:nvPr>
            <p:ph idx="7" type="subTitle"/>
          </p:nvPr>
        </p:nvSpPr>
        <p:spPr>
          <a:xfrm>
            <a:off x="1483225" y="331005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53"/>
          <p:cNvSpPr txBox="1"/>
          <p:nvPr>
            <p:ph idx="8" type="subTitle"/>
          </p:nvPr>
        </p:nvSpPr>
        <p:spPr>
          <a:xfrm>
            <a:off x="1483225" y="365573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3"/>
          <p:cNvSpPr txBox="1"/>
          <p:nvPr>
            <p:ph idx="9" type="title"/>
          </p:nvPr>
        </p:nvSpPr>
        <p:spPr>
          <a:xfrm>
            <a:off x="99682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53"/>
          <p:cNvSpPr txBox="1"/>
          <p:nvPr>
            <p:ph idx="13" type="subTitle"/>
          </p:nvPr>
        </p:nvSpPr>
        <p:spPr>
          <a:xfrm>
            <a:off x="5365375" y="331005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" name="Google Shape;32;p53"/>
          <p:cNvSpPr txBox="1"/>
          <p:nvPr>
            <p:ph idx="14" type="subTitle"/>
          </p:nvPr>
        </p:nvSpPr>
        <p:spPr>
          <a:xfrm>
            <a:off x="5365375" y="365573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3"/>
          <p:cNvSpPr txBox="1"/>
          <p:nvPr>
            <p:ph idx="15" type="title"/>
          </p:nvPr>
        </p:nvSpPr>
        <p:spPr>
          <a:xfrm>
            <a:off x="487897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4"/>
          <p:cNvSpPr/>
          <p:nvPr/>
        </p:nvSpPr>
        <p:spPr>
          <a:xfrm flipH="1">
            <a:off x="5373509" y="2780100"/>
            <a:ext cx="3795166" cy="2363438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4"/>
          <p:cNvSpPr txBox="1"/>
          <p:nvPr>
            <p:ph type="title"/>
          </p:nvPr>
        </p:nvSpPr>
        <p:spPr>
          <a:xfrm>
            <a:off x="4683300" y="1637475"/>
            <a:ext cx="334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7" name="Google Shape;37;p54"/>
          <p:cNvSpPr txBox="1"/>
          <p:nvPr>
            <p:ph idx="1" type="subTitle"/>
          </p:nvPr>
        </p:nvSpPr>
        <p:spPr>
          <a:xfrm>
            <a:off x="4683300" y="2221425"/>
            <a:ext cx="334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5"/>
          <p:cNvSpPr/>
          <p:nvPr/>
        </p:nvSpPr>
        <p:spPr>
          <a:xfrm rot="10800000">
            <a:off x="5583942" y="-5635"/>
            <a:ext cx="3560058" cy="1853485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5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1" name="Google Shape;41;p55"/>
          <p:cNvSpPr txBox="1"/>
          <p:nvPr>
            <p:ph idx="1" type="subTitle"/>
          </p:nvPr>
        </p:nvSpPr>
        <p:spPr>
          <a:xfrm>
            <a:off x="903676" y="12562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" name="Google Shape;42;p55"/>
          <p:cNvSpPr txBox="1"/>
          <p:nvPr>
            <p:ph idx="2" type="subTitle"/>
          </p:nvPr>
        </p:nvSpPr>
        <p:spPr>
          <a:xfrm>
            <a:off x="905626" y="16007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3" type="subTitle"/>
          </p:nvPr>
        </p:nvSpPr>
        <p:spPr>
          <a:xfrm>
            <a:off x="3535126" y="12562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" name="Google Shape;44;p55"/>
          <p:cNvSpPr txBox="1"/>
          <p:nvPr>
            <p:ph idx="4" type="subTitle"/>
          </p:nvPr>
        </p:nvSpPr>
        <p:spPr>
          <a:xfrm>
            <a:off x="3535126" y="16007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5" type="subTitle"/>
          </p:nvPr>
        </p:nvSpPr>
        <p:spPr>
          <a:xfrm>
            <a:off x="6164625" y="12562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" name="Google Shape;46;p55"/>
          <p:cNvSpPr txBox="1"/>
          <p:nvPr>
            <p:ph idx="6" type="subTitle"/>
          </p:nvPr>
        </p:nvSpPr>
        <p:spPr>
          <a:xfrm>
            <a:off x="6164625" y="16007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7" type="subTitle"/>
          </p:nvPr>
        </p:nvSpPr>
        <p:spPr>
          <a:xfrm>
            <a:off x="905626" y="30875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" name="Google Shape;48;p55"/>
          <p:cNvSpPr txBox="1"/>
          <p:nvPr>
            <p:ph idx="8" type="subTitle"/>
          </p:nvPr>
        </p:nvSpPr>
        <p:spPr>
          <a:xfrm>
            <a:off x="905626" y="34320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9" type="subTitle"/>
          </p:nvPr>
        </p:nvSpPr>
        <p:spPr>
          <a:xfrm>
            <a:off x="3535126" y="30875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0" name="Google Shape;50;p55"/>
          <p:cNvSpPr txBox="1"/>
          <p:nvPr>
            <p:ph idx="13" type="subTitle"/>
          </p:nvPr>
        </p:nvSpPr>
        <p:spPr>
          <a:xfrm>
            <a:off x="3535126" y="34320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14" type="subTitle"/>
          </p:nvPr>
        </p:nvSpPr>
        <p:spPr>
          <a:xfrm>
            <a:off x="6164625" y="30875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55"/>
          <p:cNvSpPr txBox="1"/>
          <p:nvPr>
            <p:ph idx="15" type="subTitle"/>
          </p:nvPr>
        </p:nvSpPr>
        <p:spPr>
          <a:xfrm>
            <a:off x="6164625" y="34320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/>
          <p:nvPr/>
        </p:nvSpPr>
        <p:spPr>
          <a:xfrm>
            <a:off x="-100" y="2490600"/>
            <a:ext cx="9144000" cy="265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6"/>
          <p:cNvSpPr txBox="1"/>
          <p:nvPr>
            <p:ph idx="1" type="subTitle"/>
          </p:nvPr>
        </p:nvSpPr>
        <p:spPr>
          <a:xfrm>
            <a:off x="879901" y="225268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" name="Google Shape;56;p56"/>
          <p:cNvSpPr txBox="1"/>
          <p:nvPr>
            <p:ph idx="2" type="subTitle"/>
          </p:nvPr>
        </p:nvSpPr>
        <p:spPr>
          <a:xfrm>
            <a:off x="879901" y="2597187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3" type="subTitle"/>
          </p:nvPr>
        </p:nvSpPr>
        <p:spPr>
          <a:xfrm>
            <a:off x="3535126" y="225268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" name="Google Shape;59;p56"/>
          <p:cNvSpPr txBox="1"/>
          <p:nvPr>
            <p:ph idx="4" type="subTitle"/>
          </p:nvPr>
        </p:nvSpPr>
        <p:spPr>
          <a:xfrm>
            <a:off x="3535126" y="2597187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5" type="subTitle"/>
          </p:nvPr>
        </p:nvSpPr>
        <p:spPr>
          <a:xfrm>
            <a:off x="6190351" y="225268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" name="Google Shape;61;p56"/>
          <p:cNvSpPr txBox="1"/>
          <p:nvPr>
            <p:ph idx="6" type="subTitle"/>
          </p:nvPr>
        </p:nvSpPr>
        <p:spPr>
          <a:xfrm>
            <a:off x="6190351" y="2597187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7"/>
          <p:cNvSpPr/>
          <p:nvPr/>
        </p:nvSpPr>
        <p:spPr>
          <a:xfrm>
            <a:off x="0" y="0"/>
            <a:ext cx="4649119" cy="4649022"/>
          </a:xfrm>
          <a:custGeom>
            <a:rect b="b" l="l" r="r" t="t"/>
            <a:pathLst>
              <a:path extrusionOk="0" h="48078" w="48079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7"/>
          <p:cNvSpPr/>
          <p:nvPr/>
        </p:nvSpPr>
        <p:spPr>
          <a:xfrm rot="10800000">
            <a:off x="5820184" y="1819684"/>
            <a:ext cx="3323816" cy="3323816"/>
          </a:xfrm>
          <a:custGeom>
            <a:rect b="b" l="l" r="r" t="t"/>
            <a:pathLst>
              <a:path extrusionOk="0" h="47780" w="4778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7"/>
          <p:cNvSpPr txBox="1"/>
          <p:nvPr>
            <p:ph type="title"/>
          </p:nvPr>
        </p:nvSpPr>
        <p:spPr>
          <a:xfrm>
            <a:off x="3363062" y="1804850"/>
            <a:ext cx="284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57"/>
          <p:cNvSpPr txBox="1"/>
          <p:nvPr>
            <p:ph idx="1" type="subTitle"/>
          </p:nvPr>
        </p:nvSpPr>
        <p:spPr>
          <a:xfrm>
            <a:off x="3363062" y="2492925"/>
            <a:ext cx="2843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7" name="Google Shape;67;p57"/>
          <p:cNvSpPr txBox="1"/>
          <p:nvPr>
            <p:ph idx="2" type="title"/>
          </p:nvPr>
        </p:nvSpPr>
        <p:spPr>
          <a:xfrm>
            <a:off x="2448025" y="1222975"/>
            <a:ext cx="708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8"/>
          <p:cNvSpPr/>
          <p:nvPr/>
        </p:nvSpPr>
        <p:spPr>
          <a:xfrm>
            <a:off x="0" y="4681276"/>
            <a:ext cx="1104905" cy="462210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8"/>
          <p:cNvSpPr/>
          <p:nvPr/>
        </p:nvSpPr>
        <p:spPr>
          <a:xfrm rot="10800000">
            <a:off x="8202276" y="26"/>
            <a:ext cx="941724" cy="578524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8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9"/>
          <p:cNvSpPr/>
          <p:nvPr/>
        </p:nvSpPr>
        <p:spPr>
          <a:xfrm>
            <a:off x="0" y="2226457"/>
            <a:ext cx="4748408" cy="2917061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9"/>
          <p:cNvSpPr/>
          <p:nvPr/>
        </p:nvSpPr>
        <p:spPr>
          <a:xfrm>
            <a:off x="8198900" y="368825"/>
            <a:ext cx="945100" cy="1893725"/>
          </a:xfrm>
          <a:custGeom>
            <a:rect b="b" l="l" r="r" t="t"/>
            <a:pathLst>
              <a:path extrusionOk="0" h="75749" w="37804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9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1" type="subTitle"/>
          </p:nvPr>
        </p:nvSpPr>
        <p:spPr>
          <a:xfrm>
            <a:off x="1800851" y="4001328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7" name="Google Shape;77;p59"/>
          <p:cNvSpPr txBox="1"/>
          <p:nvPr>
            <p:ph idx="2" type="subTitle"/>
          </p:nvPr>
        </p:nvSpPr>
        <p:spPr>
          <a:xfrm>
            <a:off x="1511025" y="3263112"/>
            <a:ext cx="2651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3" type="subTitle"/>
          </p:nvPr>
        </p:nvSpPr>
        <p:spPr>
          <a:xfrm>
            <a:off x="5269276" y="403043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9" name="Google Shape;79;p59"/>
          <p:cNvSpPr txBox="1"/>
          <p:nvPr>
            <p:ph idx="4" type="subTitle"/>
          </p:nvPr>
        </p:nvSpPr>
        <p:spPr>
          <a:xfrm>
            <a:off x="4979450" y="3263112"/>
            <a:ext cx="2651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/>
          <p:nvPr/>
        </p:nvSpPr>
        <p:spPr>
          <a:xfrm>
            <a:off x="3837925" y="-125"/>
            <a:ext cx="5306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0"/>
          <p:cNvSpPr txBox="1"/>
          <p:nvPr>
            <p:ph type="title"/>
          </p:nvPr>
        </p:nvSpPr>
        <p:spPr>
          <a:xfrm>
            <a:off x="706350" y="1830475"/>
            <a:ext cx="31635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3" name="Google Shape;83;p60"/>
          <p:cNvSpPr txBox="1"/>
          <p:nvPr>
            <p:ph idx="1" type="body"/>
          </p:nvPr>
        </p:nvSpPr>
        <p:spPr>
          <a:xfrm>
            <a:off x="4572000" y="863425"/>
            <a:ext cx="384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60"/>
          <p:cNvSpPr/>
          <p:nvPr/>
        </p:nvSpPr>
        <p:spPr>
          <a:xfrm>
            <a:off x="0" y="-125"/>
            <a:ext cx="1412441" cy="1412411"/>
          </a:xfrm>
          <a:custGeom>
            <a:rect b="b" l="l" r="r" t="t"/>
            <a:pathLst>
              <a:path extrusionOk="0" h="48078" w="48079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0"/>
          <p:cNvSpPr/>
          <p:nvPr/>
        </p:nvSpPr>
        <p:spPr>
          <a:xfrm flipH="1">
            <a:off x="1829881" y="3909750"/>
            <a:ext cx="2008044" cy="1233590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1"/>
          <p:cNvSpPr/>
          <p:nvPr/>
        </p:nvSpPr>
        <p:spPr>
          <a:xfrm>
            <a:off x="7050" y="7050"/>
            <a:ext cx="257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1"/>
          <p:cNvSpPr txBox="1"/>
          <p:nvPr>
            <p:ph type="title"/>
          </p:nvPr>
        </p:nvSpPr>
        <p:spPr>
          <a:xfrm>
            <a:off x="4501450" y="368825"/>
            <a:ext cx="39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9" name="Google Shape;89;p61"/>
          <p:cNvSpPr/>
          <p:nvPr/>
        </p:nvSpPr>
        <p:spPr>
          <a:xfrm flipH="1">
            <a:off x="6752146" y="3626549"/>
            <a:ext cx="2391854" cy="1528549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1"/>
          <p:cNvSpPr txBox="1"/>
          <p:nvPr>
            <p:ph idx="1" type="subTitle"/>
          </p:nvPr>
        </p:nvSpPr>
        <p:spPr>
          <a:xfrm>
            <a:off x="4651476" y="13956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1" name="Google Shape;91;p61"/>
          <p:cNvSpPr txBox="1"/>
          <p:nvPr>
            <p:ph idx="2" type="subTitle"/>
          </p:nvPr>
        </p:nvSpPr>
        <p:spPr>
          <a:xfrm>
            <a:off x="4651476" y="17412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 txBox="1"/>
          <p:nvPr>
            <p:ph idx="3" type="subTitle"/>
          </p:nvPr>
        </p:nvSpPr>
        <p:spPr>
          <a:xfrm>
            <a:off x="6682126" y="13956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" name="Google Shape;93;p61"/>
          <p:cNvSpPr txBox="1"/>
          <p:nvPr>
            <p:ph idx="4" type="subTitle"/>
          </p:nvPr>
        </p:nvSpPr>
        <p:spPr>
          <a:xfrm>
            <a:off x="6682126" y="17412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1"/>
          <p:cNvSpPr txBox="1"/>
          <p:nvPr>
            <p:ph idx="5" type="subTitle"/>
          </p:nvPr>
        </p:nvSpPr>
        <p:spPr>
          <a:xfrm>
            <a:off x="4651476" y="30480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61"/>
          <p:cNvSpPr txBox="1"/>
          <p:nvPr>
            <p:ph idx="6" type="subTitle"/>
          </p:nvPr>
        </p:nvSpPr>
        <p:spPr>
          <a:xfrm>
            <a:off x="4651476" y="33936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1"/>
          <p:cNvSpPr txBox="1"/>
          <p:nvPr>
            <p:ph idx="7" type="subTitle"/>
          </p:nvPr>
        </p:nvSpPr>
        <p:spPr>
          <a:xfrm>
            <a:off x="6682126" y="30480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7" name="Google Shape;97;p61"/>
          <p:cNvSpPr txBox="1"/>
          <p:nvPr>
            <p:ph idx="8" type="subTitle"/>
          </p:nvPr>
        </p:nvSpPr>
        <p:spPr>
          <a:xfrm>
            <a:off x="6682126" y="33936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2"/>
          <p:cNvSpPr/>
          <p:nvPr/>
        </p:nvSpPr>
        <p:spPr>
          <a:xfrm>
            <a:off x="6872100" y="211675"/>
            <a:ext cx="2053200" cy="205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2"/>
          <p:cNvSpPr/>
          <p:nvPr/>
        </p:nvSpPr>
        <p:spPr>
          <a:xfrm>
            <a:off x="0" y="2638775"/>
            <a:ext cx="5987604" cy="2504770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2"/>
          <p:cNvSpPr txBox="1"/>
          <p:nvPr>
            <p:ph type="title"/>
          </p:nvPr>
        </p:nvSpPr>
        <p:spPr>
          <a:xfrm>
            <a:off x="3389425" y="3209600"/>
            <a:ext cx="2395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62"/>
          <p:cNvSpPr txBox="1"/>
          <p:nvPr>
            <p:ph idx="1" type="subTitle"/>
          </p:nvPr>
        </p:nvSpPr>
        <p:spPr>
          <a:xfrm>
            <a:off x="1946725" y="1847200"/>
            <a:ext cx="5285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3"/>
          <p:cNvSpPr/>
          <p:nvPr/>
        </p:nvSpPr>
        <p:spPr>
          <a:xfrm>
            <a:off x="4376975" y="2513100"/>
            <a:ext cx="1206600" cy="1206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3"/>
          <p:cNvSpPr/>
          <p:nvPr/>
        </p:nvSpPr>
        <p:spPr>
          <a:xfrm flipH="1" rot="5400000">
            <a:off x="7427678" y="3427183"/>
            <a:ext cx="1700371" cy="1732264"/>
          </a:xfrm>
          <a:custGeom>
            <a:rect b="b" l="l" r="r" t="t"/>
            <a:pathLst>
              <a:path extrusionOk="0" h="47780" w="4778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3"/>
          <p:cNvSpPr txBox="1"/>
          <p:nvPr>
            <p:ph type="title"/>
          </p:nvPr>
        </p:nvSpPr>
        <p:spPr>
          <a:xfrm>
            <a:off x="5045400" y="3155125"/>
            <a:ext cx="31638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4"/>
          <p:cNvSpPr/>
          <p:nvPr/>
        </p:nvSpPr>
        <p:spPr>
          <a:xfrm>
            <a:off x="0" y="3737941"/>
            <a:ext cx="2288049" cy="1405603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4"/>
          <p:cNvSpPr/>
          <p:nvPr/>
        </p:nvSpPr>
        <p:spPr>
          <a:xfrm rot="10800000">
            <a:off x="2081311" y="-10"/>
            <a:ext cx="7062687" cy="2965494"/>
          </a:xfrm>
          <a:custGeom>
            <a:rect b="b" l="l" r="r" t="t"/>
            <a:pathLst>
              <a:path extrusionOk="0" h="38994" w="92869">
                <a:moveTo>
                  <a:pt x="0" y="0"/>
                </a:moveTo>
                <a:lnTo>
                  <a:pt x="0" y="38993"/>
                </a:lnTo>
                <a:lnTo>
                  <a:pt x="92869" y="38993"/>
                </a:lnTo>
                <a:cubicBezTo>
                  <a:pt x="92869" y="17455"/>
                  <a:pt x="75414" y="0"/>
                  <a:pt x="53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4"/>
          <p:cNvSpPr txBox="1"/>
          <p:nvPr>
            <p:ph hasCustomPrompt="1" type="title"/>
          </p:nvPr>
        </p:nvSpPr>
        <p:spPr>
          <a:xfrm>
            <a:off x="1573725" y="1390525"/>
            <a:ext cx="599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11" name="Google Shape;111;p64"/>
          <p:cNvSpPr txBox="1"/>
          <p:nvPr>
            <p:ph idx="1" type="subTitle"/>
          </p:nvPr>
        </p:nvSpPr>
        <p:spPr>
          <a:xfrm>
            <a:off x="1571625" y="2570650"/>
            <a:ext cx="5998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numbers">
  <p:cSld name="CUSTOM_5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5"/>
          <p:cNvSpPr/>
          <p:nvPr/>
        </p:nvSpPr>
        <p:spPr>
          <a:xfrm flipH="1">
            <a:off x="2438403" y="869780"/>
            <a:ext cx="6705597" cy="4285357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5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5" name="Google Shape;115;p65"/>
          <p:cNvSpPr txBox="1"/>
          <p:nvPr>
            <p:ph idx="1" type="subTitle"/>
          </p:nvPr>
        </p:nvSpPr>
        <p:spPr>
          <a:xfrm>
            <a:off x="1575225" y="2726059"/>
            <a:ext cx="245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6" name="Google Shape;116;p65"/>
          <p:cNvSpPr txBox="1"/>
          <p:nvPr>
            <p:ph idx="2" type="subTitle"/>
          </p:nvPr>
        </p:nvSpPr>
        <p:spPr>
          <a:xfrm>
            <a:off x="1575225" y="3070562"/>
            <a:ext cx="24507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5"/>
          <p:cNvSpPr txBox="1"/>
          <p:nvPr>
            <p:ph idx="3" type="subTitle"/>
          </p:nvPr>
        </p:nvSpPr>
        <p:spPr>
          <a:xfrm>
            <a:off x="4928850" y="2726059"/>
            <a:ext cx="245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8" name="Google Shape;118;p65"/>
          <p:cNvSpPr txBox="1"/>
          <p:nvPr>
            <p:ph idx="4" type="subTitle"/>
          </p:nvPr>
        </p:nvSpPr>
        <p:spPr>
          <a:xfrm>
            <a:off x="4928850" y="3070562"/>
            <a:ext cx="24507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5"/>
          <p:cNvSpPr txBox="1"/>
          <p:nvPr>
            <p:ph idx="5" type="title"/>
          </p:nvPr>
        </p:nvSpPr>
        <p:spPr>
          <a:xfrm>
            <a:off x="1573725" y="1628650"/>
            <a:ext cx="245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0" name="Google Shape;120;p65"/>
          <p:cNvSpPr txBox="1"/>
          <p:nvPr>
            <p:ph idx="6" type="title"/>
          </p:nvPr>
        </p:nvSpPr>
        <p:spPr>
          <a:xfrm>
            <a:off x="4931850" y="1628650"/>
            <a:ext cx="245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6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6"/>
          <p:cNvSpPr/>
          <p:nvPr/>
        </p:nvSpPr>
        <p:spPr>
          <a:xfrm flipH="1" rot="10800000">
            <a:off x="0" y="-25"/>
            <a:ext cx="3795166" cy="2363438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6"/>
          <p:cNvSpPr txBox="1"/>
          <p:nvPr>
            <p:ph type="title"/>
          </p:nvPr>
        </p:nvSpPr>
        <p:spPr>
          <a:xfrm>
            <a:off x="1111950" y="728188"/>
            <a:ext cx="3346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4" name="Google Shape;124;p66"/>
          <p:cNvSpPr txBox="1"/>
          <p:nvPr>
            <p:ph idx="1" type="subTitle"/>
          </p:nvPr>
        </p:nvSpPr>
        <p:spPr>
          <a:xfrm>
            <a:off x="1111951" y="1331865"/>
            <a:ext cx="334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7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7"/>
          <p:cNvSpPr/>
          <p:nvPr/>
        </p:nvSpPr>
        <p:spPr>
          <a:xfrm>
            <a:off x="176400" y="218725"/>
            <a:ext cx="1778100" cy="1778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7"/>
          <p:cNvSpPr/>
          <p:nvPr/>
        </p:nvSpPr>
        <p:spPr>
          <a:xfrm flipH="1">
            <a:off x="5524445" y="3629326"/>
            <a:ext cx="3619544" cy="1514150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7"/>
          <p:cNvSpPr txBox="1"/>
          <p:nvPr>
            <p:ph type="title"/>
          </p:nvPr>
        </p:nvSpPr>
        <p:spPr>
          <a:xfrm>
            <a:off x="5490150" y="751025"/>
            <a:ext cx="2404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9" name="Google Shape;129;p67"/>
          <p:cNvSpPr txBox="1"/>
          <p:nvPr>
            <p:ph idx="1" type="subTitle"/>
          </p:nvPr>
        </p:nvSpPr>
        <p:spPr>
          <a:xfrm>
            <a:off x="5490150" y="1753372"/>
            <a:ext cx="24048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8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8"/>
          <p:cNvSpPr txBox="1"/>
          <p:nvPr>
            <p:ph type="title"/>
          </p:nvPr>
        </p:nvSpPr>
        <p:spPr>
          <a:xfrm>
            <a:off x="713100" y="2620450"/>
            <a:ext cx="258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2" name="Google Shape;132;p68"/>
          <p:cNvSpPr/>
          <p:nvPr/>
        </p:nvSpPr>
        <p:spPr>
          <a:xfrm rot="10800000">
            <a:off x="5517899" y="2539940"/>
            <a:ext cx="3626091" cy="1517007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8"/>
          <p:cNvSpPr/>
          <p:nvPr/>
        </p:nvSpPr>
        <p:spPr>
          <a:xfrm>
            <a:off x="0" y="4604100"/>
            <a:ext cx="878005" cy="539380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8"/>
          <p:cNvSpPr txBox="1"/>
          <p:nvPr/>
        </p:nvSpPr>
        <p:spPr>
          <a:xfrm>
            <a:off x="5045700" y="3443875"/>
            <a:ext cx="3385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CREDITS: This presentation template was created by Slidesgo, including icons by Flaticon, and infographics &amp; images by Freepik </a:t>
            </a:r>
            <a:endParaRPr b="0" i="0" sz="12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1"/>
          <p:cNvSpPr/>
          <p:nvPr/>
        </p:nvSpPr>
        <p:spPr>
          <a:xfrm rot="10800000">
            <a:off x="7731550" y="3731100"/>
            <a:ext cx="1412441" cy="1412411"/>
          </a:xfrm>
          <a:custGeom>
            <a:rect b="b" l="l" r="r" t="t"/>
            <a:pathLst>
              <a:path extrusionOk="0" h="48078" w="48079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1"/>
          <p:cNvSpPr/>
          <p:nvPr/>
        </p:nvSpPr>
        <p:spPr>
          <a:xfrm flipH="1" rot="10800000">
            <a:off x="6" y="0"/>
            <a:ext cx="2008044" cy="1233590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>
            <a:off x="713100" y="3999000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270050" y="744550"/>
            <a:ext cx="37764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500"/>
              <a:t>SeñaText </a:t>
            </a:r>
            <a:endParaRPr sz="4500"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270050" y="1596525"/>
            <a:ext cx="2286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Sistema de apoyo a la comunicación LSCh </a:t>
            </a:r>
            <a:endParaRPr sz="1600"/>
          </a:p>
        </p:txBody>
      </p:sp>
      <p:pic>
        <p:nvPicPr>
          <p:cNvPr id="146" name="Google Shape;146;p1" title="38czwFQJlvZD0N7DlrWgdUTDRHz8ZA.jpg"/>
          <p:cNvPicPr preferRelativeResize="0"/>
          <p:nvPr/>
        </p:nvPicPr>
        <p:blipFill rotWithShape="1">
          <a:blip r:embed="rId3">
            <a:alphaModFix/>
          </a:blip>
          <a:srcRect b="0" l="26721" r="26726" t="0"/>
          <a:stretch/>
        </p:blipFill>
        <p:spPr>
          <a:xfrm>
            <a:off x="4572000" y="0"/>
            <a:ext cx="4572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/>
          <p:nvPr/>
        </p:nvSpPr>
        <p:spPr>
          <a:xfrm rot="-5400000">
            <a:off x="4035678" y="-601923"/>
            <a:ext cx="1199426" cy="2403326"/>
          </a:xfrm>
          <a:custGeom>
            <a:rect b="b" l="l" r="r" t="t"/>
            <a:pathLst>
              <a:path extrusionOk="0" h="75749" w="37804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1"/>
          <p:cNvGrpSpPr/>
          <p:nvPr/>
        </p:nvGrpSpPr>
        <p:grpSpPr>
          <a:xfrm>
            <a:off x="819725" y="3724650"/>
            <a:ext cx="747900" cy="457500"/>
            <a:chOff x="832550" y="3724650"/>
            <a:chExt cx="747900" cy="457500"/>
          </a:xfrm>
        </p:grpSpPr>
        <p:grpSp>
          <p:nvGrpSpPr>
            <p:cNvPr id="149" name="Google Shape;149;p1"/>
            <p:cNvGrpSpPr/>
            <p:nvPr/>
          </p:nvGrpSpPr>
          <p:grpSpPr>
            <a:xfrm>
              <a:off x="832550" y="3724650"/>
              <a:ext cx="747900" cy="457500"/>
              <a:chOff x="832550" y="3724650"/>
              <a:chExt cx="747900" cy="457500"/>
            </a:xfrm>
          </p:grpSpPr>
          <p:sp>
            <p:nvSpPr>
              <p:cNvPr id="150" name="Google Shape;150;p1"/>
              <p:cNvSpPr/>
              <p:nvPr/>
            </p:nvSpPr>
            <p:spPr>
              <a:xfrm>
                <a:off x="832550" y="3724650"/>
                <a:ext cx="747900" cy="4575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rotWithShape="0" algn="bl" dir="5400000" dist="95250">
                  <a:schemeClr val="accent2">
                    <a:alpha val="2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1" name="Google Shape;151;p1"/>
              <p:cNvGrpSpPr/>
              <p:nvPr/>
            </p:nvGrpSpPr>
            <p:grpSpPr>
              <a:xfrm rot="-5400000">
                <a:off x="1106556" y="3848510"/>
                <a:ext cx="199887" cy="209781"/>
                <a:chOff x="3068825" y="1169625"/>
                <a:chExt cx="90500" cy="94975"/>
              </a:xfrm>
            </p:grpSpPr>
            <p:sp>
              <p:nvSpPr>
                <p:cNvPr id="152" name="Google Shape;152;p1"/>
                <p:cNvSpPr/>
                <p:nvPr/>
              </p:nvSpPr>
              <p:spPr>
                <a:xfrm>
                  <a:off x="3109000" y="1169625"/>
                  <a:ext cx="10150" cy="94975"/>
                </a:xfrm>
                <a:custGeom>
                  <a:rect b="b" l="l" r="r" t="t"/>
                  <a:pathLst>
                    <a:path extrusionOk="0" h="3799" w="406">
                      <a:moveTo>
                        <a:pt x="203" y="0"/>
                      </a:moveTo>
                      <a:cubicBezTo>
                        <a:pt x="96" y="0"/>
                        <a:pt x="1" y="96"/>
                        <a:pt x="1" y="203"/>
                      </a:cubicBezTo>
                      <a:lnTo>
                        <a:pt x="1" y="3596"/>
                      </a:lnTo>
                      <a:cubicBezTo>
                        <a:pt x="1" y="3715"/>
                        <a:pt x="96" y="3798"/>
                        <a:pt x="203" y="3798"/>
                      </a:cubicBezTo>
                      <a:cubicBezTo>
                        <a:pt x="310" y="3798"/>
                        <a:pt x="406" y="3715"/>
                        <a:pt x="406" y="3608"/>
                      </a:cubicBezTo>
                      <a:lnTo>
                        <a:pt x="406" y="203"/>
                      </a:lnTo>
                      <a:cubicBezTo>
                        <a:pt x="406" y="96"/>
                        <a:pt x="310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1"/>
                <p:cNvSpPr/>
                <p:nvPr/>
              </p:nvSpPr>
              <p:spPr>
                <a:xfrm>
                  <a:off x="3068825" y="1214800"/>
                  <a:ext cx="90500" cy="49800"/>
                </a:xfrm>
                <a:custGeom>
                  <a:rect b="b" l="l" r="r" t="t"/>
                  <a:pathLst>
                    <a:path extrusionOk="0" h="1992" w="3620">
                      <a:moveTo>
                        <a:pt x="221" y="0"/>
                      </a:moveTo>
                      <a:cubicBezTo>
                        <a:pt x="170" y="0"/>
                        <a:pt x="120" y="21"/>
                        <a:pt x="84" y="63"/>
                      </a:cubicBezTo>
                      <a:cubicBezTo>
                        <a:pt x="0" y="134"/>
                        <a:pt x="0" y="265"/>
                        <a:pt x="84" y="348"/>
                      </a:cubicBezTo>
                      <a:lnTo>
                        <a:pt x="1667" y="1932"/>
                      </a:lnTo>
                      <a:cubicBezTo>
                        <a:pt x="1715" y="1979"/>
                        <a:pt x="1763" y="1991"/>
                        <a:pt x="1810" y="1991"/>
                      </a:cubicBezTo>
                      <a:cubicBezTo>
                        <a:pt x="1858" y="1991"/>
                        <a:pt x="1917" y="1979"/>
                        <a:pt x="1953" y="1932"/>
                      </a:cubicBezTo>
                      <a:lnTo>
                        <a:pt x="3537" y="348"/>
                      </a:lnTo>
                      <a:cubicBezTo>
                        <a:pt x="3620" y="265"/>
                        <a:pt x="3620" y="134"/>
                        <a:pt x="3537" y="63"/>
                      </a:cubicBezTo>
                      <a:cubicBezTo>
                        <a:pt x="3501" y="21"/>
                        <a:pt x="3450" y="0"/>
                        <a:pt x="3400" y="0"/>
                      </a:cubicBezTo>
                      <a:cubicBezTo>
                        <a:pt x="3349" y="0"/>
                        <a:pt x="3298" y="21"/>
                        <a:pt x="3263" y="63"/>
                      </a:cubicBezTo>
                      <a:lnTo>
                        <a:pt x="1810" y="1515"/>
                      </a:lnTo>
                      <a:lnTo>
                        <a:pt x="358" y="63"/>
                      </a:lnTo>
                      <a:cubicBezTo>
                        <a:pt x="322" y="21"/>
                        <a:pt x="271" y="0"/>
                        <a:pt x="2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54" name="Google Shape;154;p1"/>
            <p:cNvSpPr/>
            <p:nvPr/>
          </p:nvSpPr>
          <p:spPr>
            <a:xfrm>
              <a:off x="832550" y="3724650"/>
              <a:ext cx="747900" cy="4575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270050" y="2461200"/>
            <a:ext cx="43020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/>
              <a:t>Proyecto APT — Fase 1</a:t>
            </a:r>
            <a:br>
              <a:rPr lang="en" sz="1100"/>
            </a:br>
            <a:r>
              <a:rPr lang="en" sz="1100"/>
              <a:t>Ingeniería en Informática — Duoc UC, Sede Antonio Varas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/>
              <a:t>Vicente Tramon · Diego Robert · Ariel Valverde · Martín Quiroga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5125875" y="136236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836575" y="108701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245325" y="136236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228600" rotWithShape="0" algn="bl" dir="5400000" dist="95250">
              <a:schemeClr val="accent2">
                <a:alpha val="25098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956025" y="108701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1245325" y="314491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956025" y="28695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125875" y="314491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836575" y="28695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Indice</a:t>
            </a:r>
            <a:endParaRPr/>
          </a:p>
        </p:txBody>
      </p:sp>
      <p:sp>
        <p:nvSpPr>
          <p:cNvPr id="169" name="Google Shape;169;p3"/>
          <p:cNvSpPr txBox="1"/>
          <p:nvPr>
            <p:ph idx="1" type="subTitle"/>
          </p:nvPr>
        </p:nvSpPr>
        <p:spPr>
          <a:xfrm>
            <a:off x="1483225" y="136237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Necesidad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p3"/>
          <p:cNvSpPr txBox="1"/>
          <p:nvPr>
            <p:ph idx="2" type="subTitle"/>
          </p:nvPr>
        </p:nvSpPr>
        <p:spPr>
          <a:xfrm>
            <a:off x="1483225" y="178296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Introducción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Contexto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Problemática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3"/>
          <p:cNvSpPr txBox="1"/>
          <p:nvPr>
            <p:ph idx="3" type="title"/>
          </p:nvPr>
        </p:nvSpPr>
        <p:spPr>
          <a:xfrm>
            <a:off x="99682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3"/>
          <p:cNvSpPr txBox="1"/>
          <p:nvPr>
            <p:ph idx="4" type="subTitle"/>
          </p:nvPr>
        </p:nvSpPr>
        <p:spPr>
          <a:xfrm>
            <a:off x="5365375" y="136237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Propuesta </a:t>
            </a:r>
            <a:endParaRPr/>
          </a:p>
        </p:txBody>
      </p:sp>
      <p:sp>
        <p:nvSpPr>
          <p:cNvPr id="173" name="Google Shape;173;p3"/>
          <p:cNvSpPr txBox="1"/>
          <p:nvPr>
            <p:ph idx="5" type="subTitle"/>
          </p:nvPr>
        </p:nvSpPr>
        <p:spPr>
          <a:xfrm>
            <a:off x="5418375" y="178296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Solución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Flujo de atención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Mockup </a:t>
            </a:r>
            <a:endParaRPr/>
          </a:p>
        </p:txBody>
      </p:sp>
      <p:sp>
        <p:nvSpPr>
          <p:cNvPr id="174" name="Google Shape;174;p3"/>
          <p:cNvSpPr txBox="1"/>
          <p:nvPr>
            <p:ph idx="6" type="title"/>
          </p:nvPr>
        </p:nvSpPr>
        <p:spPr>
          <a:xfrm>
            <a:off x="487897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p3"/>
          <p:cNvSpPr txBox="1"/>
          <p:nvPr>
            <p:ph idx="7" type="subTitle"/>
          </p:nvPr>
        </p:nvSpPr>
        <p:spPr>
          <a:xfrm>
            <a:off x="1482475" y="314492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Desarrollo </a:t>
            </a:r>
            <a:endParaRPr/>
          </a:p>
        </p:txBody>
      </p:sp>
      <p:sp>
        <p:nvSpPr>
          <p:cNvPr id="176" name="Google Shape;176;p3"/>
          <p:cNvSpPr txBox="1"/>
          <p:nvPr>
            <p:ph idx="8" type="subTitle"/>
          </p:nvPr>
        </p:nvSpPr>
        <p:spPr>
          <a:xfrm>
            <a:off x="1483225" y="348241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Metodología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Plan y roles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Arquitectura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Mapa tecnológico </a:t>
            </a:r>
            <a:endParaRPr/>
          </a:p>
        </p:txBody>
      </p:sp>
      <p:sp>
        <p:nvSpPr>
          <p:cNvPr id="177" name="Google Shape;177;p3"/>
          <p:cNvSpPr txBox="1"/>
          <p:nvPr>
            <p:ph idx="9" type="title"/>
          </p:nvPr>
        </p:nvSpPr>
        <p:spPr>
          <a:xfrm>
            <a:off x="99682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8" name="Google Shape;178;p3"/>
          <p:cNvSpPr txBox="1"/>
          <p:nvPr>
            <p:ph idx="13" type="subTitle"/>
          </p:nvPr>
        </p:nvSpPr>
        <p:spPr>
          <a:xfrm>
            <a:off x="5365375" y="314492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Viabilidad </a:t>
            </a:r>
            <a:endParaRPr/>
          </a:p>
        </p:txBody>
      </p:sp>
      <p:sp>
        <p:nvSpPr>
          <p:cNvPr id="179" name="Google Shape;179;p3"/>
          <p:cNvSpPr txBox="1"/>
          <p:nvPr>
            <p:ph idx="14" type="subTitle"/>
          </p:nvPr>
        </p:nvSpPr>
        <p:spPr>
          <a:xfrm>
            <a:off x="5365375" y="348241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Competencias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Riesgos y seguridad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Modelo de negocio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Conclusión </a:t>
            </a:r>
            <a:endParaRPr/>
          </a:p>
        </p:txBody>
      </p:sp>
      <p:sp>
        <p:nvSpPr>
          <p:cNvPr id="180" name="Google Shape;180;p3"/>
          <p:cNvSpPr txBox="1"/>
          <p:nvPr>
            <p:ph idx="15" type="title"/>
          </p:nvPr>
        </p:nvSpPr>
        <p:spPr>
          <a:xfrm>
            <a:off x="487897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/>
          <p:nvPr/>
        </p:nvSpPr>
        <p:spPr>
          <a:xfrm>
            <a:off x="4286250" y="1389600"/>
            <a:ext cx="4144500" cy="236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>
            <p:ph idx="1" type="subTitle"/>
          </p:nvPr>
        </p:nvSpPr>
        <p:spPr>
          <a:xfrm>
            <a:off x="4685100" y="2078850"/>
            <a:ext cx="334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SeñaText es una propuesta de accesibilidad digital orientada a apoyar la comunicación entre personas sordas usuarias de Lengua de Señas Chilena y funcionarios de CESFAM de la Región Metropolitana. </a:t>
            </a:r>
            <a:endParaRPr/>
          </a:p>
        </p:txBody>
      </p:sp>
      <p:sp>
        <p:nvSpPr>
          <p:cNvPr id="187" name="Google Shape;187;p4"/>
          <p:cNvSpPr txBox="1"/>
          <p:nvPr>
            <p:ph type="title"/>
          </p:nvPr>
        </p:nvSpPr>
        <p:spPr>
          <a:xfrm>
            <a:off x="4685100" y="1511850"/>
            <a:ext cx="334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3959950" y="1066800"/>
            <a:ext cx="667800" cy="66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4"/>
          <p:cNvGrpSpPr/>
          <p:nvPr/>
        </p:nvGrpSpPr>
        <p:grpSpPr>
          <a:xfrm>
            <a:off x="4116308" y="1351405"/>
            <a:ext cx="355184" cy="98694"/>
            <a:chOff x="874800" y="1192250"/>
            <a:chExt cx="178925" cy="49725"/>
          </a:xfrm>
        </p:grpSpPr>
        <p:sp>
          <p:nvSpPr>
            <p:cNvPr id="190" name="Google Shape;190;p4"/>
            <p:cNvSpPr/>
            <p:nvPr/>
          </p:nvSpPr>
          <p:spPr>
            <a:xfrm>
              <a:off x="939400" y="1192250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1000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0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1000" y="405"/>
                  </a:cubicBezTo>
                  <a:close/>
                  <a:moveTo>
                    <a:pt x="1000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1000" y="1988"/>
                  </a:cubicBezTo>
                  <a:cubicBezTo>
                    <a:pt x="1548" y="1988"/>
                    <a:pt x="1988" y="1548"/>
                    <a:pt x="1988" y="1000"/>
                  </a:cubicBezTo>
                  <a:cubicBezTo>
                    <a:pt x="1988" y="441"/>
                    <a:pt x="1548" y="0"/>
                    <a:pt x="1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874800" y="1192250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989" y="405"/>
                  </a:moveTo>
                  <a:cubicBezTo>
                    <a:pt x="1322" y="405"/>
                    <a:pt x="1584" y="667"/>
                    <a:pt x="1584" y="1000"/>
                  </a:cubicBezTo>
                  <a:cubicBezTo>
                    <a:pt x="1584" y="1322"/>
                    <a:pt x="1322" y="1596"/>
                    <a:pt x="989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989" y="405"/>
                  </a:cubicBezTo>
                  <a:close/>
                  <a:moveTo>
                    <a:pt x="989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989" y="1988"/>
                  </a:cubicBezTo>
                  <a:cubicBezTo>
                    <a:pt x="1536" y="1988"/>
                    <a:pt x="1989" y="1548"/>
                    <a:pt x="1989" y="1000"/>
                  </a:cubicBezTo>
                  <a:cubicBezTo>
                    <a:pt x="1989" y="441"/>
                    <a:pt x="1536" y="0"/>
                    <a:pt x="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1003975" y="1192250"/>
              <a:ext cx="49750" cy="49725"/>
            </a:xfrm>
            <a:custGeom>
              <a:rect b="b" l="l" r="r" t="t"/>
              <a:pathLst>
                <a:path extrusionOk="0" h="1989" w="1990">
                  <a:moveTo>
                    <a:pt x="1001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1" y="1596"/>
                  </a:cubicBezTo>
                  <a:cubicBezTo>
                    <a:pt x="668" y="1596"/>
                    <a:pt x="406" y="1322"/>
                    <a:pt x="406" y="1000"/>
                  </a:cubicBezTo>
                  <a:cubicBezTo>
                    <a:pt x="406" y="667"/>
                    <a:pt x="668" y="405"/>
                    <a:pt x="1001" y="405"/>
                  </a:cubicBezTo>
                  <a:close/>
                  <a:moveTo>
                    <a:pt x="1001" y="0"/>
                  </a:moveTo>
                  <a:cubicBezTo>
                    <a:pt x="453" y="0"/>
                    <a:pt x="1" y="441"/>
                    <a:pt x="1" y="1000"/>
                  </a:cubicBezTo>
                  <a:cubicBezTo>
                    <a:pt x="1" y="1548"/>
                    <a:pt x="453" y="1988"/>
                    <a:pt x="1001" y="1988"/>
                  </a:cubicBezTo>
                  <a:cubicBezTo>
                    <a:pt x="1549" y="1988"/>
                    <a:pt x="1989" y="1548"/>
                    <a:pt x="1989" y="1000"/>
                  </a:cubicBezTo>
                  <a:cubicBezTo>
                    <a:pt x="1989" y="441"/>
                    <a:pt x="1549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4"/>
          <p:cNvGrpSpPr/>
          <p:nvPr/>
        </p:nvGrpSpPr>
        <p:grpSpPr>
          <a:xfrm>
            <a:off x="7150825" y="3518475"/>
            <a:ext cx="747900" cy="457500"/>
            <a:chOff x="7150825" y="3518475"/>
            <a:chExt cx="747900" cy="457500"/>
          </a:xfrm>
        </p:grpSpPr>
        <p:grpSp>
          <p:nvGrpSpPr>
            <p:cNvPr id="194" name="Google Shape;194;p4"/>
            <p:cNvGrpSpPr/>
            <p:nvPr/>
          </p:nvGrpSpPr>
          <p:grpSpPr>
            <a:xfrm>
              <a:off x="7150825" y="3518475"/>
              <a:ext cx="747900" cy="457500"/>
              <a:chOff x="7150825" y="3518475"/>
              <a:chExt cx="747900" cy="457500"/>
            </a:xfrm>
          </p:grpSpPr>
          <p:sp>
            <p:nvSpPr>
              <p:cNvPr id="195" name="Google Shape;195;p4"/>
              <p:cNvSpPr/>
              <p:nvPr/>
            </p:nvSpPr>
            <p:spPr>
              <a:xfrm>
                <a:off x="7150825" y="3518475"/>
                <a:ext cx="747900" cy="457500"/>
              </a:xfrm>
              <a:prstGeom prst="roundRect">
                <a:avLst>
                  <a:gd fmla="val 50000" name="adj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214313" rotWithShape="0" algn="bl" dir="5400000" dist="95250">
                  <a:schemeClr val="dk1">
                    <a:alpha val="3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 rot="-5400000">
                <a:off x="7513566" y="3642335"/>
                <a:ext cx="22418" cy="209781"/>
              </a:xfrm>
              <a:custGeom>
                <a:rect b="b" l="l" r="r" t="t"/>
                <a:pathLst>
                  <a:path extrusionOk="0" h="3799" w="406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 rot="-5400000">
                <a:off x="7474723" y="3692226"/>
                <a:ext cx="199887" cy="109998"/>
              </a:xfrm>
              <a:custGeom>
                <a:rect b="b" l="l" r="r" t="t"/>
                <a:pathLst>
                  <a:path extrusionOk="0" h="1992" w="362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8" name="Google Shape;198;p4"/>
            <p:cNvSpPr/>
            <p:nvPr/>
          </p:nvSpPr>
          <p:spPr>
            <a:xfrm>
              <a:off x="7150825" y="3518475"/>
              <a:ext cx="747900" cy="4575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bca7d2e9_0_16"/>
          <p:cNvSpPr txBox="1"/>
          <p:nvPr>
            <p:ph type="title"/>
          </p:nvPr>
        </p:nvSpPr>
        <p:spPr>
          <a:xfrm>
            <a:off x="713100" y="368825"/>
            <a:ext cx="465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Contexto de atención </a:t>
            </a:r>
            <a:endParaRPr/>
          </a:p>
        </p:txBody>
      </p:sp>
      <p:sp>
        <p:nvSpPr>
          <p:cNvPr id="204" name="Google Shape;204;g3f9bca7d2e9_0_16"/>
          <p:cNvSpPr txBox="1"/>
          <p:nvPr>
            <p:ph idx="4294967295" type="subTitle"/>
          </p:nvPr>
        </p:nvSpPr>
        <p:spPr>
          <a:xfrm>
            <a:off x="6002250" y="295975"/>
            <a:ext cx="245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Atención Primaria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3f9bca7d2e9_0_16"/>
          <p:cNvSpPr txBox="1"/>
          <p:nvPr>
            <p:ph idx="4294967295" type="subTitle"/>
          </p:nvPr>
        </p:nvSpPr>
        <p:spPr>
          <a:xfrm>
            <a:off x="6002250" y="640475"/>
            <a:ext cx="24522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 sz="1300"/>
              <a:t>Los CESFAM son uno de los principales puntos de acceso al sistema público de salud y realizan atenciones frecuentes de orientación, horas, controles y farmacia. </a:t>
            </a:r>
            <a:endParaRPr b="0" i="0" sz="13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6" name="Google Shape;206;g3f9bca7d2e9_0_16"/>
          <p:cNvSpPr txBox="1"/>
          <p:nvPr>
            <p:ph idx="4294967295" type="subTitle"/>
          </p:nvPr>
        </p:nvSpPr>
        <p:spPr>
          <a:xfrm>
            <a:off x="6002250" y="2073900"/>
            <a:ext cx="245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Accesibilidad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3f9bca7d2e9_0_16"/>
          <p:cNvSpPr txBox="1"/>
          <p:nvPr>
            <p:ph idx="4294967295" type="subTitle"/>
          </p:nvPr>
        </p:nvSpPr>
        <p:spPr>
          <a:xfrm>
            <a:off x="6002250" y="2418400"/>
            <a:ext cx="24522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 sz="1300"/>
              <a:t>Las personas sordas usuarias de LSCh pueden enfrentar barreras cuando el funcionario no maneja lengua de señas. </a:t>
            </a:r>
            <a:endParaRPr b="0" i="0" sz="13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8" name="Google Shape;208;g3f9bca7d2e9_0_16"/>
          <p:cNvSpPr/>
          <p:nvPr/>
        </p:nvSpPr>
        <p:spPr>
          <a:xfrm>
            <a:off x="5650675" y="382378"/>
            <a:ext cx="258000" cy="25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9bca7d2e9_0_16"/>
          <p:cNvSpPr/>
          <p:nvPr/>
        </p:nvSpPr>
        <p:spPr>
          <a:xfrm>
            <a:off x="5650675" y="2155203"/>
            <a:ext cx="258000" cy="25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9bca7d2e9_0_16"/>
          <p:cNvSpPr txBox="1"/>
          <p:nvPr>
            <p:ph idx="4294967295" type="subTitle"/>
          </p:nvPr>
        </p:nvSpPr>
        <p:spPr>
          <a:xfrm>
            <a:off x="6002250" y="3529850"/>
            <a:ext cx="245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Alcance del proyecto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g3f9bca7d2e9_0_16"/>
          <p:cNvSpPr txBox="1"/>
          <p:nvPr>
            <p:ph idx="4294967295" type="subTitle"/>
          </p:nvPr>
        </p:nvSpPr>
        <p:spPr>
          <a:xfrm>
            <a:off x="6002250" y="3874350"/>
            <a:ext cx="24522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SeñaText se enfoca en mesones de atención de CESFAM de la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Región Metropolitana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3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2" name="Google Shape;212;g3f9bca7d2e9_0_16"/>
          <p:cNvSpPr/>
          <p:nvPr/>
        </p:nvSpPr>
        <p:spPr>
          <a:xfrm>
            <a:off x="5650675" y="3611153"/>
            <a:ext cx="258000" cy="25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f9bca7d2e9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700" y="941525"/>
            <a:ext cx="3731608" cy="389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9bca7d2e9_0_16"/>
          <p:cNvSpPr/>
          <p:nvPr/>
        </p:nvSpPr>
        <p:spPr>
          <a:xfrm>
            <a:off x="3160969" y="2387096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9bca7d2e9_0_16"/>
          <p:cNvSpPr/>
          <p:nvPr/>
        </p:nvSpPr>
        <p:spPr>
          <a:xfrm>
            <a:off x="3160969" y="283640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9bca7d2e9_0_16"/>
          <p:cNvSpPr/>
          <p:nvPr/>
        </p:nvSpPr>
        <p:spPr>
          <a:xfrm>
            <a:off x="2692994" y="251805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9bca7d2e9_0_16"/>
          <p:cNvSpPr/>
          <p:nvPr/>
        </p:nvSpPr>
        <p:spPr>
          <a:xfrm>
            <a:off x="2047638" y="2518056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9bca7d2e9_0_16"/>
          <p:cNvSpPr/>
          <p:nvPr/>
        </p:nvSpPr>
        <p:spPr>
          <a:xfrm>
            <a:off x="2364938" y="2836419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9bca7d2e9_0_16"/>
          <p:cNvSpPr/>
          <p:nvPr/>
        </p:nvSpPr>
        <p:spPr>
          <a:xfrm>
            <a:off x="2256938" y="2108281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9bca7d2e9_0_16"/>
          <p:cNvSpPr/>
          <p:nvPr/>
        </p:nvSpPr>
        <p:spPr>
          <a:xfrm>
            <a:off x="2638313" y="3265906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9bca7d2e9_0_16"/>
          <p:cNvSpPr/>
          <p:nvPr/>
        </p:nvSpPr>
        <p:spPr>
          <a:xfrm>
            <a:off x="2088344" y="315850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9bca7d2e9_0_16"/>
          <p:cNvSpPr/>
          <p:nvPr/>
        </p:nvSpPr>
        <p:spPr>
          <a:xfrm>
            <a:off x="2530319" y="368645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f9bca7d2e9_0_76" title="seccion-atencion-presencial.jpg"/>
          <p:cNvPicPr preferRelativeResize="0"/>
          <p:nvPr/>
        </p:nvPicPr>
        <p:blipFill rotWithShape="1">
          <a:blip r:embed="rId3">
            <a:alphaModFix/>
          </a:blip>
          <a:srcRect b="0" l="13164" r="13171" t="0"/>
          <a:stretch/>
        </p:blipFill>
        <p:spPr>
          <a:xfrm>
            <a:off x="713103" y="539400"/>
            <a:ext cx="2994300" cy="4064700"/>
          </a:xfrm>
          <a:prstGeom prst="roundRect">
            <a:avLst>
              <a:gd fmla="val 9880" name="adj"/>
            </a:avLst>
          </a:prstGeom>
          <a:noFill/>
          <a:ln>
            <a:noFill/>
          </a:ln>
        </p:spPr>
      </p:pic>
      <p:sp>
        <p:nvSpPr>
          <p:cNvPr id="228" name="Google Shape;228;g3f9bca7d2e9_0_76"/>
          <p:cNvSpPr/>
          <p:nvPr/>
        </p:nvSpPr>
        <p:spPr>
          <a:xfrm>
            <a:off x="843333" y="650988"/>
            <a:ext cx="420600" cy="4206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6">
                <a:alpha val="2902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9bca7d2e9_0_76"/>
          <p:cNvSpPr/>
          <p:nvPr/>
        </p:nvSpPr>
        <p:spPr>
          <a:xfrm>
            <a:off x="4501450" y="1298225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9bca7d2e9_0_76"/>
          <p:cNvSpPr/>
          <p:nvPr/>
        </p:nvSpPr>
        <p:spPr>
          <a:xfrm>
            <a:off x="6532075" y="1298200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9bca7d2e9_0_76"/>
          <p:cNvSpPr/>
          <p:nvPr/>
        </p:nvSpPr>
        <p:spPr>
          <a:xfrm>
            <a:off x="4501450" y="2949101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9bca7d2e9_0_76"/>
          <p:cNvSpPr/>
          <p:nvPr/>
        </p:nvSpPr>
        <p:spPr>
          <a:xfrm>
            <a:off x="6532075" y="2949101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9bca7d2e9_0_76"/>
          <p:cNvSpPr txBox="1"/>
          <p:nvPr>
            <p:ph type="title"/>
          </p:nvPr>
        </p:nvSpPr>
        <p:spPr>
          <a:xfrm>
            <a:off x="4501450" y="368825"/>
            <a:ext cx="39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Problemática</a:t>
            </a:r>
            <a:endParaRPr/>
          </a:p>
        </p:txBody>
      </p:sp>
      <p:sp>
        <p:nvSpPr>
          <p:cNvPr id="234" name="Google Shape;234;g3f9bca7d2e9_0_76"/>
          <p:cNvSpPr txBox="1"/>
          <p:nvPr>
            <p:ph idx="1" type="subTitle"/>
          </p:nvPr>
        </p:nvSpPr>
        <p:spPr>
          <a:xfrm>
            <a:off x="4650701" y="129819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Barrera lingüística </a:t>
            </a:r>
            <a:endParaRPr/>
          </a:p>
        </p:txBody>
      </p:sp>
      <p:sp>
        <p:nvSpPr>
          <p:cNvPr id="235" name="Google Shape;235;g3f9bca7d2e9_0_76"/>
          <p:cNvSpPr txBox="1"/>
          <p:nvPr>
            <p:ph idx="2" type="subTitle"/>
          </p:nvPr>
        </p:nvSpPr>
        <p:spPr>
          <a:xfrm>
            <a:off x="4651476" y="183463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El funcionario puede no manejar LSCh. </a:t>
            </a:r>
            <a:endParaRPr/>
          </a:p>
        </p:txBody>
      </p:sp>
      <p:sp>
        <p:nvSpPr>
          <p:cNvPr id="236" name="Google Shape;236;g3f9bca7d2e9_0_76"/>
          <p:cNvSpPr txBox="1"/>
          <p:nvPr>
            <p:ph idx="3" type="subTitle"/>
          </p:nvPr>
        </p:nvSpPr>
        <p:spPr>
          <a:xfrm>
            <a:off x="6681326" y="129819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Menor autonomía </a:t>
            </a:r>
            <a:endParaRPr/>
          </a:p>
        </p:txBody>
      </p:sp>
      <p:sp>
        <p:nvSpPr>
          <p:cNvPr id="237" name="Google Shape;237;g3f9bca7d2e9_0_76"/>
          <p:cNvSpPr txBox="1"/>
          <p:nvPr>
            <p:ph idx="4" type="subTitle"/>
          </p:nvPr>
        </p:nvSpPr>
        <p:spPr>
          <a:xfrm>
            <a:off x="6682126" y="183463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La persona puede depender de terceros. </a:t>
            </a:r>
            <a:endParaRPr/>
          </a:p>
        </p:txBody>
      </p:sp>
      <p:sp>
        <p:nvSpPr>
          <p:cNvPr id="238" name="Google Shape;238;g3f9bca7d2e9_0_76"/>
          <p:cNvSpPr txBox="1"/>
          <p:nvPr>
            <p:ph idx="5" type="subTitle"/>
          </p:nvPr>
        </p:nvSpPr>
        <p:spPr>
          <a:xfrm>
            <a:off x="4501450" y="3041825"/>
            <a:ext cx="1898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Malentendidos </a:t>
            </a:r>
            <a:endParaRPr/>
          </a:p>
        </p:txBody>
      </p:sp>
      <p:sp>
        <p:nvSpPr>
          <p:cNvPr id="239" name="Google Shape;239;g3f9bca7d2e9_0_76"/>
          <p:cNvSpPr txBox="1"/>
          <p:nvPr>
            <p:ph idx="6" type="subTitle"/>
          </p:nvPr>
        </p:nvSpPr>
        <p:spPr>
          <a:xfrm>
            <a:off x="4651476" y="33936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La comunicación puede ser lenta o poco clara.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f9bca7d2e9_0_76"/>
          <p:cNvSpPr txBox="1"/>
          <p:nvPr>
            <p:ph idx="7" type="subTitle"/>
          </p:nvPr>
        </p:nvSpPr>
        <p:spPr>
          <a:xfrm>
            <a:off x="6681326" y="294909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Contexto CESFAM </a:t>
            </a:r>
            <a:endParaRPr/>
          </a:p>
        </p:txBody>
      </p:sp>
      <p:sp>
        <p:nvSpPr>
          <p:cNvPr id="241" name="Google Shape;241;g3f9bca7d2e9_0_76"/>
          <p:cNvSpPr txBox="1"/>
          <p:nvPr>
            <p:ph idx="8" type="subTitle"/>
          </p:nvPr>
        </p:nvSpPr>
        <p:spPr>
          <a:xfrm>
            <a:off x="6607875" y="3462425"/>
            <a:ext cx="17487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Atención presencial en la Región Metropolitana. </a:t>
            </a:r>
            <a:endParaRPr/>
          </a:p>
        </p:txBody>
      </p:sp>
      <p:grpSp>
        <p:nvGrpSpPr>
          <p:cNvPr id="242" name="Google Shape;242;g3f9bca7d2e9_0_76"/>
          <p:cNvGrpSpPr/>
          <p:nvPr/>
        </p:nvGrpSpPr>
        <p:grpSpPr>
          <a:xfrm>
            <a:off x="964163" y="836438"/>
            <a:ext cx="178925" cy="49725"/>
            <a:chOff x="964163" y="836438"/>
            <a:chExt cx="178925" cy="49725"/>
          </a:xfrm>
        </p:grpSpPr>
        <p:sp>
          <p:nvSpPr>
            <p:cNvPr id="243" name="Google Shape;243;g3f9bca7d2e9_0_76"/>
            <p:cNvSpPr/>
            <p:nvPr/>
          </p:nvSpPr>
          <p:spPr>
            <a:xfrm>
              <a:off x="1028763" y="836438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1000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0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1000" y="405"/>
                  </a:cubicBezTo>
                  <a:close/>
                  <a:moveTo>
                    <a:pt x="1000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1000" y="1988"/>
                  </a:cubicBezTo>
                  <a:cubicBezTo>
                    <a:pt x="1548" y="1988"/>
                    <a:pt x="1988" y="1548"/>
                    <a:pt x="1988" y="1000"/>
                  </a:cubicBezTo>
                  <a:cubicBezTo>
                    <a:pt x="1988" y="441"/>
                    <a:pt x="1548" y="0"/>
                    <a:pt x="1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f9bca7d2e9_0_76"/>
            <p:cNvSpPr/>
            <p:nvPr/>
          </p:nvSpPr>
          <p:spPr>
            <a:xfrm>
              <a:off x="964163" y="836438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989" y="405"/>
                  </a:moveTo>
                  <a:cubicBezTo>
                    <a:pt x="1322" y="405"/>
                    <a:pt x="1584" y="667"/>
                    <a:pt x="1584" y="1000"/>
                  </a:cubicBezTo>
                  <a:cubicBezTo>
                    <a:pt x="1584" y="1322"/>
                    <a:pt x="1322" y="1596"/>
                    <a:pt x="989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989" y="405"/>
                  </a:cubicBezTo>
                  <a:close/>
                  <a:moveTo>
                    <a:pt x="989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989" y="1988"/>
                  </a:cubicBezTo>
                  <a:cubicBezTo>
                    <a:pt x="1536" y="1988"/>
                    <a:pt x="1989" y="1548"/>
                    <a:pt x="1989" y="1000"/>
                  </a:cubicBezTo>
                  <a:cubicBezTo>
                    <a:pt x="1989" y="441"/>
                    <a:pt x="1536" y="0"/>
                    <a:pt x="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f9bca7d2e9_0_76"/>
            <p:cNvSpPr/>
            <p:nvPr/>
          </p:nvSpPr>
          <p:spPr>
            <a:xfrm>
              <a:off x="1093338" y="836438"/>
              <a:ext cx="49750" cy="49725"/>
            </a:xfrm>
            <a:custGeom>
              <a:rect b="b" l="l" r="r" t="t"/>
              <a:pathLst>
                <a:path extrusionOk="0" h="1989" w="1990">
                  <a:moveTo>
                    <a:pt x="1001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1" y="1596"/>
                  </a:cubicBezTo>
                  <a:cubicBezTo>
                    <a:pt x="668" y="1596"/>
                    <a:pt x="406" y="1322"/>
                    <a:pt x="406" y="1000"/>
                  </a:cubicBezTo>
                  <a:cubicBezTo>
                    <a:pt x="406" y="667"/>
                    <a:pt x="668" y="405"/>
                    <a:pt x="1001" y="405"/>
                  </a:cubicBezTo>
                  <a:close/>
                  <a:moveTo>
                    <a:pt x="1001" y="0"/>
                  </a:moveTo>
                  <a:cubicBezTo>
                    <a:pt x="453" y="0"/>
                    <a:pt x="1" y="441"/>
                    <a:pt x="1" y="1000"/>
                  </a:cubicBezTo>
                  <a:cubicBezTo>
                    <a:pt x="1" y="1548"/>
                    <a:pt x="453" y="1988"/>
                    <a:pt x="1001" y="1988"/>
                  </a:cubicBezTo>
                  <a:cubicBezTo>
                    <a:pt x="1549" y="1988"/>
                    <a:pt x="1989" y="1548"/>
                    <a:pt x="1989" y="1000"/>
                  </a:cubicBezTo>
                  <a:cubicBezTo>
                    <a:pt x="1989" y="441"/>
                    <a:pt x="1549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bca7d2e9_0_165"/>
          <p:cNvSpPr/>
          <p:nvPr/>
        </p:nvSpPr>
        <p:spPr>
          <a:xfrm>
            <a:off x="3935265" y="2498286"/>
            <a:ext cx="1273500" cy="1114800"/>
          </a:xfrm>
          <a:prstGeom prst="roundRect">
            <a:avLst>
              <a:gd fmla="val 15061" name="adj"/>
            </a:avLst>
          </a:prstGeom>
          <a:solidFill>
            <a:schemeClr val="accent3"/>
          </a:solidFill>
          <a:ln>
            <a:noFill/>
          </a:ln>
          <a:effectLst>
            <a:outerShdw blurRad="216250" rotWithShape="0" algn="bl" dir="5400000" dist="90104">
              <a:schemeClr val="accent3">
                <a:alpha val="34900"/>
              </a:schemeClr>
            </a:outerShdw>
          </a:effectLst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t/>
            </a:r>
            <a:endParaRPr b="0" i="0" sz="13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9bca7d2e9_0_165"/>
          <p:cNvSpPr txBox="1"/>
          <p:nvPr>
            <p:ph type="title"/>
          </p:nvPr>
        </p:nvSpPr>
        <p:spPr>
          <a:xfrm>
            <a:off x="710525" y="17727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Solución a Desarrollar</a:t>
            </a:r>
            <a:endParaRPr/>
          </a:p>
        </p:txBody>
      </p:sp>
      <p:sp>
        <p:nvSpPr>
          <p:cNvPr id="252" name="Google Shape;252;g3f9bca7d2e9_0_165"/>
          <p:cNvSpPr/>
          <p:nvPr/>
        </p:nvSpPr>
        <p:spPr>
          <a:xfrm>
            <a:off x="921525" y="1332877"/>
            <a:ext cx="2736000" cy="1468500"/>
          </a:xfrm>
          <a:prstGeom prst="roundRect">
            <a:avLst>
              <a:gd fmla="val 126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t/>
            </a:r>
            <a:endParaRPr b="0" i="0" sz="13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9bca7d2e9_0_165"/>
          <p:cNvSpPr txBox="1"/>
          <p:nvPr>
            <p:ph idx="4294967295" type="subTitle"/>
          </p:nvPr>
        </p:nvSpPr>
        <p:spPr>
          <a:xfrm>
            <a:off x="1129687" y="1381539"/>
            <a:ext cx="2319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b="1" lang="en" sz="151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  <a:endParaRPr b="1" i="0" sz="151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g3f9bca7d2e9_0_165"/>
          <p:cNvSpPr txBox="1"/>
          <p:nvPr>
            <p:ph idx="4294967295" type="subTitle"/>
          </p:nvPr>
        </p:nvSpPr>
        <p:spPr>
          <a:xfrm>
            <a:off x="1129687" y="1677660"/>
            <a:ext cx="2319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lang="en" sz="1324"/>
              <a:t>La cámara del dispositivo captura en tiempo real el video de las manos y el cuerpo del paciente. </a:t>
            </a:r>
            <a:endParaRPr b="0" i="0" sz="1324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55" name="Google Shape;255;g3f9bca7d2e9_0_165"/>
          <p:cNvSpPr/>
          <p:nvPr/>
        </p:nvSpPr>
        <p:spPr>
          <a:xfrm>
            <a:off x="5486335" y="1290875"/>
            <a:ext cx="2736000" cy="1468500"/>
          </a:xfrm>
          <a:prstGeom prst="roundRect">
            <a:avLst>
              <a:gd fmla="val 126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t/>
            </a:r>
            <a:endParaRPr b="0" i="0" sz="13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9bca7d2e9_0_165"/>
          <p:cNvSpPr txBox="1"/>
          <p:nvPr>
            <p:ph idx="4294967295" type="subTitle"/>
          </p:nvPr>
        </p:nvSpPr>
        <p:spPr>
          <a:xfrm>
            <a:off x="5486477" y="1309778"/>
            <a:ext cx="2736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b="1" lang="en" sz="151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Extracción de landmarks</a:t>
            </a:r>
            <a:endParaRPr b="1" i="0" sz="151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3f9bca7d2e9_0_165"/>
          <p:cNvSpPr txBox="1"/>
          <p:nvPr>
            <p:ph idx="4294967295" type="subTitle"/>
          </p:nvPr>
        </p:nvSpPr>
        <p:spPr>
          <a:xfrm>
            <a:off x="5694497" y="1635660"/>
            <a:ext cx="24387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lang="en" sz="1324"/>
              <a:t>MediaPipe Holistic extrae los puntos clave (landmarks) de manos y pose en cada fotograma del video. </a:t>
            </a:r>
            <a:endParaRPr b="0" i="0" sz="1324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258" name="Google Shape;258;g3f9bca7d2e9_0_165"/>
          <p:cNvGrpSpPr/>
          <p:nvPr/>
        </p:nvGrpSpPr>
        <p:grpSpPr>
          <a:xfrm>
            <a:off x="4227895" y="2765262"/>
            <a:ext cx="688329" cy="580900"/>
            <a:chOff x="4208188" y="2427475"/>
            <a:chExt cx="727621" cy="614059"/>
          </a:xfrm>
        </p:grpSpPr>
        <p:sp>
          <p:nvSpPr>
            <p:cNvPr id="259" name="Google Shape;259;g3f9bca7d2e9_0_165"/>
            <p:cNvSpPr/>
            <p:nvPr/>
          </p:nvSpPr>
          <p:spPr>
            <a:xfrm>
              <a:off x="4208188" y="2427475"/>
              <a:ext cx="727621" cy="614059"/>
            </a:xfrm>
            <a:custGeom>
              <a:rect b="b" l="l" r="r" t="t"/>
              <a:pathLst>
                <a:path extrusionOk="0" h="13967" w="16550">
                  <a:moveTo>
                    <a:pt x="9573" y="1549"/>
                  </a:moveTo>
                  <a:cubicBezTo>
                    <a:pt x="9716" y="1549"/>
                    <a:pt x="9835" y="1668"/>
                    <a:pt x="9835" y="1811"/>
                  </a:cubicBezTo>
                  <a:lnTo>
                    <a:pt x="9835" y="3882"/>
                  </a:lnTo>
                  <a:lnTo>
                    <a:pt x="9835" y="4144"/>
                  </a:lnTo>
                  <a:lnTo>
                    <a:pt x="3108" y="4144"/>
                  </a:lnTo>
                  <a:lnTo>
                    <a:pt x="3108" y="3882"/>
                  </a:lnTo>
                  <a:lnTo>
                    <a:pt x="3108" y="1811"/>
                  </a:lnTo>
                  <a:cubicBezTo>
                    <a:pt x="3108" y="1668"/>
                    <a:pt x="3227" y="1549"/>
                    <a:pt x="3370" y="1549"/>
                  </a:cubicBezTo>
                  <a:close/>
                  <a:moveTo>
                    <a:pt x="2584" y="4144"/>
                  </a:moveTo>
                  <a:lnTo>
                    <a:pt x="2584" y="4656"/>
                  </a:lnTo>
                  <a:lnTo>
                    <a:pt x="512" y="4656"/>
                  </a:lnTo>
                  <a:lnTo>
                    <a:pt x="512" y="4394"/>
                  </a:lnTo>
                  <a:cubicBezTo>
                    <a:pt x="512" y="4251"/>
                    <a:pt x="631" y="4144"/>
                    <a:pt x="774" y="4144"/>
                  </a:cubicBezTo>
                  <a:close/>
                  <a:moveTo>
                    <a:pt x="10859" y="4144"/>
                  </a:moveTo>
                  <a:lnTo>
                    <a:pt x="10859" y="4656"/>
                  </a:lnTo>
                  <a:lnTo>
                    <a:pt x="10347" y="4656"/>
                  </a:lnTo>
                  <a:lnTo>
                    <a:pt x="10347" y="4144"/>
                  </a:lnTo>
                  <a:close/>
                  <a:moveTo>
                    <a:pt x="16038" y="513"/>
                  </a:moveTo>
                  <a:lnTo>
                    <a:pt x="16038" y="5692"/>
                  </a:lnTo>
                  <a:lnTo>
                    <a:pt x="12668" y="5680"/>
                  </a:lnTo>
                  <a:cubicBezTo>
                    <a:pt x="12645" y="5692"/>
                    <a:pt x="12621" y="5692"/>
                    <a:pt x="12585" y="5704"/>
                  </a:cubicBezTo>
                  <a:lnTo>
                    <a:pt x="12561" y="5704"/>
                  </a:lnTo>
                  <a:cubicBezTo>
                    <a:pt x="12561" y="5716"/>
                    <a:pt x="12561" y="5716"/>
                    <a:pt x="12549" y="5716"/>
                  </a:cubicBezTo>
                  <a:lnTo>
                    <a:pt x="11383" y="6299"/>
                  </a:lnTo>
                  <a:lnTo>
                    <a:pt x="11383" y="513"/>
                  </a:lnTo>
                  <a:close/>
                  <a:moveTo>
                    <a:pt x="9823" y="4656"/>
                  </a:moveTo>
                  <a:lnTo>
                    <a:pt x="9823" y="4906"/>
                  </a:lnTo>
                  <a:cubicBezTo>
                    <a:pt x="9823" y="4906"/>
                    <a:pt x="9823" y="4918"/>
                    <a:pt x="9823" y="4918"/>
                  </a:cubicBezTo>
                  <a:lnTo>
                    <a:pt x="9823" y="5954"/>
                  </a:lnTo>
                  <a:cubicBezTo>
                    <a:pt x="9823" y="7799"/>
                    <a:pt x="8323" y="9312"/>
                    <a:pt x="6465" y="9312"/>
                  </a:cubicBezTo>
                  <a:cubicBezTo>
                    <a:pt x="4608" y="9312"/>
                    <a:pt x="3108" y="7799"/>
                    <a:pt x="3108" y="5954"/>
                  </a:cubicBezTo>
                  <a:lnTo>
                    <a:pt x="3108" y="5942"/>
                  </a:lnTo>
                  <a:lnTo>
                    <a:pt x="3108" y="4656"/>
                  </a:lnTo>
                  <a:close/>
                  <a:moveTo>
                    <a:pt x="7763" y="9597"/>
                  </a:moveTo>
                  <a:lnTo>
                    <a:pt x="7763" y="10205"/>
                  </a:lnTo>
                  <a:lnTo>
                    <a:pt x="7203" y="10574"/>
                  </a:lnTo>
                  <a:lnTo>
                    <a:pt x="6549" y="10359"/>
                  </a:lnTo>
                  <a:lnTo>
                    <a:pt x="6525" y="10359"/>
                  </a:lnTo>
                  <a:cubicBezTo>
                    <a:pt x="6501" y="10347"/>
                    <a:pt x="6489" y="10347"/>
                    <a:pt x="6465" y="10347"/>
                  </a:cubicBezTo>
                  <a:cubicBezTo>
                    <a:pt x="6453" y="10347"/>
                    <a:pt x="6430" y="10347"/>
                    <a:pt x="6418" y="10359"/>
                  </a:cubicBezTo>
                  <a:lnTo>
                    <a:pt x="6382" y="10359"/>
                  </a:lnTo>
                  <a:lnTo>
                    <a:pt x="5727" y="10574"/>
                  </a:lnTo>
                  <a:lnTo>
                    <a:pt x="5179" y="10205"/>
                  </a:lnTo>
                  <a:lnTo>
                    <a:pt x="5179" y="9597"/>
                  </a:lnTo>
                  <a:cubicBezTo>
                    <a:pt x="5584" y="9752"/>
                    <a:pt x="6013" y="9824"/>
                    <a:pt x="6465" y="9824"/>
                  </a:cubicBezTo>
                  <a:cubicBezTo>
                    <a:pt x="6918" y="9824"/>
                    <a:pt x="7358" y="9752"/>
                    <a:pt x="7763" y="9597"/>
                  </a:cubicBezTo>
                  <a:close/>
                  <a:moveTo>
                    <a:pt x="2584" y="5168"/>
                  </a:moveTo>
                  <a:lnTo>
                    <a:pt x="2584" y="5942"/>
                  </a:lnTo>
                  <a:cubicBezTo>
                    <a:pt x="2584" y="7430"/>
                    <a:pt x="3429" y="8728"/>
                    <a:pt x="4656" y="9371"/>
                  </a:cubicBezTo>
                  <a:lnTo>
                    <a:pt x="4656" y="10085"/>
                  </a:lnTo>
                  <a:lnTo>
                    <a:pt x="3620" y="10085"/>
                  </a:lnTo>
                  <a:cubicBezTo>
                    <a:pt x="2477" y="10085"/>
                    <a:pt x="1548" y="11014"/>
                    <a:pt x="1548" y="12157"/>
                  </a:cubicBezTo>
                  <a:cubicBezTo>
                    <a:pt x="1548" y="12157"/>
                    <a:pt x="1560" y="12169"/>
                    <a:pt x="1560" y="12169"/>
                  </a:cubicBezTo>
                  <a:cubicBezTo>
                    <a:pt x="1560" y="12181"/>
                    <a:pt x="1548" y="12181"/>
                    <a:pt x="1548" y="12193"/>
                  </a:cubicBezTo>
                  <a:lnTo>
                    <a:pt x="1548" y="13443"/>
                  </a:lnTo>
                  <a:lnTo>
                    <a:pt x="524" y="13443"/>
                  </a:lnTo>
                  <a:lnTo>
                    <a:pt x="524" y="5168"/>
                  </a:lnTo>
                  <a:close/>
                  <a:moveTo>
                    <a:pt x="3953" y="10609"/>
                  </a:moveTo>
                  <a:lnTo>
                    <a:pt x="4822" y="13443"/>
                  </a:lnTo>
                  <a:lnTo>
                    <a:pt x="2072" y="13443"/>
                  </a:lnTo>
                  <a:lnTo>
                    <a:pt x="2072" y="12193"/>
                  </a:lnTo>
                  <a:cubicBezTo>
                    <a:pt x="2072" y="12181"/>
                    <a:pt x="2072" y="12181"/>
                    <a:pt x="2072" y="12169"/>
                  </a:cubicBezTo>
                  <a:cubicBezTo>
                    <a:pt x="2072" y="12169"/>
                    <a:pt x="2072" y="12157"/>
                    <a:pt x="2072" y="12157"/>
                  </a:cubicBezTo>
                  <a:cubicBezTo>
                    <a:pt x="2072" y="11300"/>
                    <a:pt x="2774" y="10609"/>
                    <a:pt x="3620" y="10609"/>
                  </a:cubicBezTo>
                  <a:close/>
                  <a:moveTo>
                    <a:pt x="4727" y="10609"/>
                  </a:moveTo>
                  <a:lnTo>
                    <a:pt x="5596" y="13443"/>
                  </a:lnTo>
                  <a:lnTo>
                    <a:pt x="5358" y="13443"/>
                  </a:lnTo>
                  <a:lnTo>
                    <a:pt x="4489" y="10609"/>
                  </a:lnTo>
                  <a:close/>
                  <a:moveTo>
                    <a:pt x="6465" y="10871"/>
                  </a:moveTo>
                  <a:lnTo>
                    <a:pt x="7156" y="11109"/>
                  </a:lnTo>
                  <a:lnTo>
                    <a:pt x="7168" y="11109"/>
                  </a:lnTo>
                  <a:cubicBezTo>
                    <a:pt x="7192" y="11109"/>
                    <a:pt x="7215" y="11121"/>
                    <a:pt x="7239" y="11121"/>
                  </a:cubicBezTo>
                  <a:cubicBezTo>
                    <a:pt x="7263" y="11121"/>
                    <a:pt x="7287" y="11121"/>
                    <a:pt x="7323" y="11109"/>
                  </a:cubicBezTo>
                  <a:cubicBezTo>
                    <a:pt x="7323" y="11109"/>
                    <a:pt x="7334" y="11097"/>
                    <a:pt x="7346" y="11097"/>
                  </a:cubicBezTo>
                  <a:cubicBezTo>
                    <a:pt x="7358" y="11086"/>
                    <a:pt x="7370" y="11086"/>
                    <a:pt x="7382" y="11074"/>
                  </a:cubicBezTo>
                  <a:lnTo>
                    <a:pt x="7477" y="11014"/>
                  </a:lnTo>
                  <a:lnTo>
                    <a:pt x="6549" y="13443"/>
                  </a:lnTo>
                  <a:lnTo>
                    <a:pt x="6144" y="13443"/>
                  </a:lnTo>
                  <a:lnTo>
                    <a:pt x="5370" y="10967"/>
                  </a:lnTo>
                  <a:lnTo>
                    <a:pt x="5549" y="11074"/>
                  </a:lnTo>
                  <a:cubicBezTo>
                    <a:pt x="5560" y="11086"/>
                    <a:pt x="5572" y="11086"/>
                    <a:pt x="5584" y="11097"/>
                  </a:cubicBezTo>
                  <a:cubicBezTo>
                    <a:pt x="5596" y="11097"/>
                    <a:pt x="5608" y="11109"/>
                    <a:pt x="5620" y="11109"/>
                  </a:cubicBezTo>
                  <a:cubicBezTo>
                    <a:pt x="5644" y="11109"/>
                    <a:pt x="5668" y="11121"/>
                    <a:pt x="5691" y="11121"/>
                  </a:cubicBezTo>
                  <a:cubicBezTo>
                    <a:pt x="5715" y="11121"/>
                    <a:pt x="5739" y="11121"/>
                    <a:pt x="5763" y="11109"/>
                  </a:cubicBezTo>
                  <a:lnTo>
                    <a:pt x="5775" y="11109"/>
                  </a:lnTo>
                  <a:lnTo>
                    <a:pt x="6465" y="10871"/>
                  </a:lnTo>
                  <a:close/>
                  <a:moveTo>
                    <a:pt x="8418" y="10609"/>
                  </a:moveTo>
                  <a:lnTo>
                    <a:pt x="7323" y="13443"/>
                  </a:lnTo>
                  <a:lnTo>
                    <a:pt x="7096" y="13443"/>
                  </a:lnTo>
                  <a:lnTo>
                    <a:pt x="8192" y="10609"/>
                  </a:lnTo>
                  <a:close/>
                  <a:moveTo>
                    <a:pt x="9311" y="10609"/>
                  </a:moveTo>
                  <a:cubicBezTo>
                    <a:pt x="10168" y="10609"/>
                    <a:pt x="10859" y="11300"/>
                    <a:pt x="10859" y="12157"/>
                  </a:cubicBezTo>
                  <a:cubicBezTo>
                    <a:pt x="10859" y="12157"/>
                    <a:pt x="10871" y="12169"/>
                    <a:pt x="10871" y="12169"/>
                  </a:cubicBezTo>
                  <a:cubicBezTo>
                    <a:pt x="10871" y="12181"/>
                    <a:pt x="10859" y="12181"/>
                    <a:pt x="10859" y="12193"/>
                  </a:cubicBezTo>
                  <a:lnTo>
                    <a:pt x="10859" y="13455"/>
                  </a:lnTo>
                  <a:lnTo>
                    <a:pt x="7870" y="13455"/>
                  </a:lnTo>
                  <a:lnTo>
                    <a:pt x="8978" y="10609"/>
                  </a:lnTo>
                  <a:close/>
                  <a:moveTo>
                    <a:pt x="10859" y="5168"/>
                  </a:moveTo>
                  <a:lnTo>
                    <a:pt x="10859" y="6728"/>
                  </a:lnTo>
                  <a:cubicBezTo>
                    <a:pt x="10859" y="6811"/>
                    <a:pt x="10906" y="6895"/>
                    <a:pt x="10990" y="6942"/>
                  </a:cubicBezTo>
                  <a:cubicBezTo>
                    <a:pt x="11025" y="6966"/>
                    <a:pt x="11073" y="6978"/>
                    <a:pt x="11121" y="6978"/>
                  </a:cubicBezTo>
                  <a:cubicBezTo>
                    <a:pt x="11156" y="6978"/>
                    <a:pt x="11204" y="6978"/>
                    <a:pt x="11240" y="6954"/>
                  </a:cubicBezTo>
                  <a:lnTo>
                    <a:pt x="12418" y="6359"/>
                  </a:lnTo>
                  <a:lnTo>
                    <a:pt x="12418" y="13455"/>
                  </a:lnTo>
                  <a:lnTo>
                    <a:pt x="11383" y="13455"/>
                  </a:lnTo>
                  <a:lnTo>
                    <a:pt x="11383" y="12193"/>
                  </a:lnTo>
                  <a:cubicBezTo>
                    <a:pt x="11383" y="12193"/>
                    <a:pt x="11383" y="12181"/>
                    <a:pt x="11383" y="12169"/>
                  </a:cubicBezTo>
                  <a:cubicBezTo>
                    <a:pt x="11383" y="12169"/>
                    <a:pt x="11383" y="12157"/>
                    <a:pt x="11383" y="12157"/>
                  </a:cubicBezTo>
                  <a:cubicBezTo>
                    <a:pt x="11383" y="11014"/>
                    <a:pt x="10454" y="10085"/>
                    <a:pt x="9311" y="10085"/>
                  </a:cubicBezTo>
                  <a:lnTo>
                    <a:pt x="8275" y="10085"/>
                  </a:lnTo>
                  <a:lnTo>
                    <a:pt x="8275" y="9371"/>
                  </a:lnTo>
                  <a:cubicBezTo>
                    <a:pt x="9513" y="8728"/>
                    <a:pt x="10347" y="7430"/>
                    <a:pt x="10347" y="5954"/>
                  </a:cubicBezTo>
                  <a:lnTo>
                    <a:pt x="10347" y="5168"/>
                  </a:lnTo>
                  <a:close/>
                  <a:moveTo>
                    <a:pt x="11121" y="1"/>
                  </a:moveTo>
                  <a:cubicBezTo>
                    <a:pt x="10978" y="1"/>
                    <a:pt x="10859" y="120"/>
                    <a:pt x="10859" y="263"/>
                  </a:cubicBezTo>
                  <a:lnTo>
                    <a:pt x="10859" y="3620"/>
                  </a:lnTo>
                  <a:lnTo>
                    <a:pt x="10347" y="3620"/>
                  </a:lnTo>
                  <a:lnTo>
                    <a:pt x="10347" y="1811"/>
                  </a:lnTo>
                  <a:cubicBezTo>
                    <a:pt x="10347" y="1382"/>
                    <a:pt x="10001" y="1037"/>
                    <a:pt x="9573" y="1037"/>
                  </a:cubicBezTo>
                  <a:lnTo>
                    <a:pt x="3370" y="1037"/>
                  </a:lnTo>
                  <a:cubicBezTo>
                    <a:pt x="2941" y="1037"/>
                    <a:pt x="2584" y="1382"/>
                    <a:pt x="2584" y="1811"/>
                  </a:cubicBezTo>
                  <a:lnTo>
                    <a:pt x="2584" y="3620"/>
                  </a:lnTo>
                  <a:lnTo>
                    <a:pt x="774" y="3620"/>
                  </a:lnTo>
                  <a:cubicBezTo>
                    <a:pt x="345" y="3620"/>
                    <a:pt x="0" y="3978"/>
                    <a:pt x="0" y="4394"/>
                  </a:cubicBezTo>
                  <a:lnTo>
                    <a:pt x="0" y="4918"/>
                  </a:lnTo>
                  <a:cubicBezTo>
                    <a:pt x="0" y="4918"/>
                    <a:pt x="0" y="4930"/>
                    <a:pt x="0" y="4942"/>
                  </a:cubicBezTo>
                  <a:lnTo>
                    <a:pt x="0" y="13705"/>
                  </a:lnTo>
                  <a:cubicBezTo>
                    <a:pt x="0" y="13848"/>
                    <a:pt x="119" y="13967"/>
                    <a:pt x="262" y="13967"/>
                  </a:cubicBezTo>
                  <a:lnTo>
                    <a:pt x="12680" y="13967"/>
                  </a:lnTo>
                  <a:cubicBezTo>
                    <a:pt x="12704" y="13967"/>
                    <a:pt x="12728" y="13955"/>
                    <a:pt x="12752" y="13955"/>
                  </a:cubicBezTo>
                  <a:cubicBezTo>
                    <a:pt x="12764" y="13943"/>
                    <a:pt x="12776" y="13943"/>
                    <a:pt x="12776" y="13943"/>
                  </a:cubicBezTo>
                  <a:cubicBezTo>
                    <a:pt x="12788" y="13943"/>
                    <a:pt x="12788" y="13931"/>
                    <a:pt x="12799" y="13931"/>
                  </a:cubicBezTo>
                  <a:cubicBezTo>
                    <a:pt x="12883" y="13884"/>
                    <a:pt x="12930" y="13800"/>
                    <a:pt x="12930" y="13705"/>
                  </a:cubicBezTo>
                  <a:lnTo>
                    <a:pt x="12930" y="6204"/>
                  </a:lnTo>
                  <a:lnTo>
                    <a:pt x="16288" y="6204"/>
                  </a:lnTo>
                  <a:cubicBezTo>
                    <a:pt x="16359" y="6204"/>
                    <a:pt x="16419" y="6180"/>
                    <a:pt x="16478" y="6133"/>
                  </a:cubicBezTo>
                  <a:cubicBezTo>
                    <a:pt x="16526" y="6085"/>
                    <a:pt x="16550" y="6014"/>
                    <a:pt x="16550" y="5954"/>
                  </a:cubicBezTo>
                  <a:lnTo>
                    <a:pt x="16550" y="263"/>
                  </a:lnTo>
                  <a:cubicBezTo>
                    <a:pt x="16550" y="120"/>
                    <a:pt x="16431" y="1"/>
                    <a:pt x="16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475" lIns="86475" spcFirstLastPara="1" rIns="86475" wrap="square" tIns="8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4"/>
                <a:buFont typeface="Arial"/>
                <a:buNone/>
              </a:pPr>
              <a:r>
                <a:t/>
              </a:r>
              <a:endParaRPr b="0" i="0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f9bca7d2e9_0_165"/>
            <p:cNvSpPr/>
            <p:nvPr/>
          </p:nvSpPr>
          <p:spPr>
            <a:xfrm>
              <a:off x="4742640" y="2530092"/>
              <a:ext cx="136160" cy="22554"/>
            </a:xfrm>
            <a:custGeom>
              <a:rect b="b" l="l" r="r" t="t"/>
              <a:pathLst>
                <a:path extrusionOk="0" h="513" w="3097">
                  <a:moveTo>
                    <a:pt x="251" y="1"/>
                  </a:moveTo>
                  <a:cubicBezTo>
                    <a:pt x="108" y="1"/>
                    <a:pt x="0" y="108"/>
                    <a:pt x="0" y="251"/>
                  </a:cubicBezTo>
                  <a:cubicBezTo>
                    <a:pt x="0" y="393"/>
                    <a:pt x="108" y="512"/>
                    <a:pt x="251" y="512"/>
                  </a:cubicBezTo>
                  <a:lnTo>
                    <a:pt x="2846" y="512"/>
                  </a:lnTo>
                  <a:cubicBezTo>
                    <a:pt x="2989" y="512"/>
                    <a:pt x="3096" y="393"/>
                    <a:pt x="3096" y="251"/>
                  </a:cubicBezTo>
                  <a:cubicBezTo>
                    <a:pt x="3096" y="108"/>
                    <a:pt x="2989" y="1"/>
                    <a:pt x="2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475" lIns="86475" spcFirstLastPara="1" rIns="86475" wrap="square" tIns="8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4"/>
                <a:buFont typeface="Arial"/>
                <a:buNone/>
              </a:pPr>
              <a:r>
                <a:t/>
              </a:r>
              <a:endParaRPr b="0" i="0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f9bca7d2e9_0_165"/>
            <p:cNvSpPr/>
            <p:nvPr/>
          </p:nvSpPr>
          <p:spPr>
            <a:xfrm>
              <a:off x="4742640" y="2484543"/>
              <a:ext cx="136160" cy="22554"/>
            </a:xfrm>
            <a:custGeom>
              <a:rect b="b" l="l" r="r" t="t"/>
              <a:pathLst>
                <a:path extrusionOk="0" h="513" w="3097">
                  <a:moveTo>
                    <a:pt x="251" y="1"/>
                  </a:moveTo>
                  <a:cubicBezTo>
                    <a:pt x="108" y="1"/>
                    <a:pt x="0" y="108"/>
                    <a:pt x="0" y="251"/>
                  </a:cubicBezTo>
                  <a:cubicBezTo>
                    <a:pt x="0" y="394"/>
                    <a:pt x="108" y="513"/>
                    <a:pt x="251" y="513"/>
                  </a:cubicBezTo>
                  <a:lnTo>
                    <a:pt x="2846" y="513"/>
                  </a:lnTo>
                  <a:cubicBezTo>
                    <a:pt x="2977" y="513"/>
                    <a:pt x="3096" y="394"/>
                    <a:pt x="3096" y="251"/>
                  </a:cubicBezTo>
                  <a:cubicBezTo>
                    <a:pt x="3096" y="108"/>
                    <a:pt x="2989" y="1"/>
                    <a:pt x="2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475" lIns="86475" spcFirstLastPara="1" rIns="86475" wrap="square" tIns="8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4"/>
                <a:buFont typeface="Arial"/>
                <a:buNone/>
              </a:pPr>
              <a:r>
                <a:t/>
              </a:r>
              <a:endParaRPr b="0" i="0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f9bca7d2e9_0_165"/>
            <p:cNvSpPr/>
            <p:nvPr/>
          </p:nvSpPr>
          <p:spPr>
            <a:xfrm>
              <a:off x="4742640" y="2575113"/>
              <a:ext cx="136160" cy="23082"/>
            </a:xfrm>
            <a:custGeom>
              <a:rect b="b" l="l" r="r" t="t"/>
              <a:pathLst>
                <a:path extrusionOk="0" h="525" w="3097">
                  <a:moveTo>
                    <a:pt x="251" y="0"/>
                  </a:moveTo>
                  <a:cubicBezTo>
                    <a:pt x="108" y="0"/>
                    <a:pt x="0" y="119"/>
                    <a:pt x="0" y="262"/>
                  </a:cubicBezTo>
                  <a:cubicBezTo>
                    <a:pt x="0" y="405"/>
                    <a:pt x="108" y="524"/>
                    <a:pt x="251" y="524"/>
                  </a:cubicBezTo>
                  <a:lnTo>
                    <a:pt x="2846" y="524"/>
                  </a:lnTo>
                  <a:cubicBezTo>
                    <a:pt x="2989" y="524"/>
                    <a:pt x="3096" y="405"/>
                    <a:pt x="3096" y="262"/>
                  </a:cubicBezTo>
                  <a:cubicBezTo>
                    <a:pt x="3096" y="119"/>
                    <a:pt x="2989" y="0"/>
                    <a:pt x="2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475" lIns="86475" spcFirstLastPara="1" rIns="86475" wrap="square" tIns="8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4"/>
                <a:buFont typeface="Arial"/>
                <a:buNone/>
              </a:pPr>
              <a:r>
                <a:t/>
              </a:r>
              <a:endParaRPr b="0" i="0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3f9bca7d2e9_0_165"/>
            <p:cNvSpPr/>
            <p:nvPr/>
          </p:nvSpPr>
          <p:spPr>
            <a:xfrm>
              <a:off x="4742640" y="2620662"/>
              <a:ext cx="79621" cy="23082"/>
            </a:xfrm>
            <a:custGeom>
              <a:rect b="b" l="l" r="r" t="t"/>
              <a:pathLst>
                <a:path extrusionOk="0" h="525" w="1811">
                  <a:moveTo>
                    <a:pt x="251" y="0"/>
                  </a:moveTo>
                  <a:cubicBezTo>
                    <a:pt x="108" y="0"/>
                    <a:pt x="0" y="119"/>
                    <a:pt x="0" y="262"/>
                  </a:cubicBezTo>
                  <a:cubicBezTo>
                    <a:pt x="0" y="405"/>
                    <a:pt x="108" y="524"/>
                    <a:pt x="251" y="524"/>
                  </a:cubicBezTo>
                  <a:lnTo>
                    <a:pt x="1548" y="524"/>
                  </a:lnTo>
                  <a:cubicBezTo>
                    <a:pt x="1691" y="524"/>
                    <a:pt x="1810" y="405"/>
                    <a:pt x="1810" y="262"/>
                  </a:cubicBezTo>
                  <a:cubicBezTo>
                    <a:pt x="1810" y="119"/>
                    <a:pt x="1691" y="0"/>
                    <a:pt x="1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475" lIns="86475" spcFirstLastPara="1" rIns="86475" wrap="square" tIns="8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4"/>
                <a:buFont typeface="Arial"/>
                <a:buNone/>
              </a:pPr>
              <a:r>
                <a:t/>
              </a:r>
              <a:endParaRPr b="0" i="0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3f9bca7d2e9_0_165"/>
            <p:cNvSpPr/>
            <p:nvPr/>
          </p:nvSpPr>
          <p:spPr>
            <a:xfrm>
              <a:off x="4446880" y="2507054"/>
              <a:ext cx="91139" cy="91139"/>
            </a:xfrm>
            <a:custGeom>
              <a:rect b="b" l="l" r="r" t="t"/>
              <a:pathLst>
                <a:path extrusionOk="0" h="2073" w="2073">
                  <a:moveTo>
                    <a:pt x="1036" y="1"/>
                  </a:moveTo>
                  <a:cubicBezTo>
                    <a:pt x="893" y="1"/>
                    <a:pt x="774" y="120"/>
                    <a:pt x="774" y="263"/>
                  </a:cubicBezTo>
                  <a:lnTo>
                    <a:pt x="774" y="775"/>
                  </a:lnTo>
                  <a:lnTo>
                    <a:pt x="262" y="775"/>
                  </a:lnTo>
                  <a:cubicBezTo>
                    <a:pt x="120" y="775"/>
                    <a:pt x="0" y="894"/>
                    <a:pt x="0" y="1036"/>
                  </a:cubicBezTo>
                  <a:cubicBezTo>
                    <a:pt x="0" y="1179"/>
                    <a:pt x="120" y="1298"/>
                    <a:pt x="262" y="1298"/>
                  </a:cubicBezTo>
                  <a:lnTo>
                    <a:pt x="786" y="1298"/>
                  </a:lnTo>
                  <a:lnTo>
                    <a:pt x="786" y="1810"/>
                  </a:lnTo>
                  <a:cubicBezTo>
                    <a:pt x="786" y="1953"/>
                    <a:pt x="893" y="2072"/>
                    <a:pt x="1036" y="2072"/>
                  </a:cubicBezTo>
                  <a:cubicBezTo>
                    <a:pt x="1179" y="2072"/>
                    <a:pt x="1298" y="1953"/>
                    <a:pt x="1298" y="1810"/>
                  </a:cubicBezTo>
                  <a:lnTo>
                    <a:pt x="1298" y="1298"/>
                  </a:lnTo>
                  <a:lnTo>
                    <a:pt x="1822" y="1298"/>
                  </a:lnTo>
                  <a:cubicBezTo>
                    <a:pt x="1953" y="1298"/>
                    <a:pt x="2072" y="1179"/>
                    <a:pt x="2072" y="1036"/>
                  </a:cubicBezTo>
                  <a:cubicBezTo>
                    <a:pt x="2072" y="894"/>
                    <a:pt x="1965" y="775"/>
                    <a:pt x="1822" y="775"/>
                  </a:cubicBezTo>
                  <a:lnTo>
                    <a:pt x="1298" y="775"/>
                  </a:lnTo>
                  <a:lnTo>
                    <a:pt x="1298" y="263"/>
                  </a:lnTo>
                  <a:cubicBezTo>
                    <a:pt x="1298" y="120"/>
                    <a:pt x="1179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475" lIns="86475" spcFirstLastPara="1" rIns="86475" wrap="square" tIns="8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4"/>
                <a:buFont typeface="Arial"/>
                <a:buNone/>
              </a:pPr>
              <a:r>
                <a:t/>
              </a:r>
              <a:endParaRPr b="0" i="0" sz="13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5" name="Google Shape;265;g3f9bca7d2e9_0_165"/>
          <p:cNvCxnSpPr/>
          <p:nvPr/>
        </p:nvCxnSpPr>
        <p:spPr>
          <a:xfrm>
            <a:off x="3654420" y="1934956"/>
            <a:ext cx="1830300" cy="147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266" name="Google Shape;266;g3f9bca7d2e9_0_165"/>
          <p:cNvSpPr/>
          <p:nvPr/>
        </p:nvSpPr>
        <p:spPr>
          <a:xfrm>
            <a:off x="5486346" y="3079901"/>
            <a:ext cx="2736000" cy="1702800"/>
          </a:xfrm>
          <a:prstGeom prst="roundRect">
            <a:avLst>
              <a:gd fmla="val 1260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t/>
            </a:r>
            <a:endParaRPr b="0" i="0" sz="13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9bca7d2e9_0_165"/>
          <p:cNvSpPr txBox="1"/>
          <p:nvPr>
            <p:ph idx="4294967295" type="subTitle"/>
          </p:nvPr>
        </p:nvSpPr>
        <p:spPr>
          <a:xfrm>
            <a:off x="5575599" y="3128563"/>
            <a:ext cx="2319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b="1" lang="en" sz="151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</a:t>
            </a:r>
            <a:endParaRPr b="1" i="0" sz="151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g3f9bca7d2e9_0_165"/>
          <p:cNvSpPr txBox="1"/>
          <p:nvPr/>
        </p:nvSpPr>
        <p:spPr>
          <a:xfrm>
            <a:off x="5575599" y="3383898"/>
            <a:ext cx="2569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4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Un modelo de secuencias temporales (LSTM/GRU) analiza la secuencia de landmarks y la clasifica dentro del vocabulario cerrado de LSCh definido para el proyecto </a:t>
            </a:r>
            <a:endParaRPr sz="1324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9" name="Google Shape;269;g3f9bca7d2e9_0_165"/>
          <p:cNvSpPr/>
          <p:nvPr/>
        </p:nvSpPr>
        <p:spPr>
          <a:xfrm>
            <a:off x="921525" y="3128568"/>
            <a:ext cx="2736000" cy="1702800"/>
          </a:xfrm>
          <a:prstGeom prst="roundRect">
            <a:avLst>
              <a:gd fmla="val 12609" name="adj"/>
            </a:avLst>
          </a:prstGeom>
          <a:solidFill>
            <a:schemeClr val="accent4"/>
          </a:solidFill>
          <a:ln>
            <a:noFill/>
          </a:ln>
          <a:effectLst>
            <a:outerShdw blurRad="216250" rotWithShape="0" algn="bl" dir="3960000" dist="90104">
              <a:schemeClr val="accent4">
                <a:alpha val="34900"/>
              </a:schemeClr>
            </a:outerShdw>
          </a:effectLst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4"/>
              <a:buFont typeface="Arial"/>
              <a:buNone/>
            </a:pPr>
            <a:r>
              <a:t/>
            </a:r>
            <a:endParaRPr b="0" i="0" sz="13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9bca7d2e9_0_165"/>
          <p:cNvSpPr txBox="1"/>
          <p:nvPr>
            <p:ph idx="4294967295" type="subTitle"/>
          </p:nvPr>
        </p:nvSpPr>
        <p:spPr>
          <a:xfrm>
            <a:off x="1129687" y="3177230"/>
            <a:ext cx="2319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b="1" lang="en" sz="151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Resultado </a:t>
            </a:r>
            <a:endParaRPr b="1" i="0" sz="1514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g3f9bca7d2e9_0_165"/>
          <p:cNvSpPr txBox="1"/>
          <p:nvPr>
            <p:ph idx="4294967295" type="subTitle"/>
          </p:nvPr>
        </p:nvSpPr>
        <p:spPr>
          <a:xfrm>
            <a:off x="1129687" y="3480799"/>
            <a:ext cx="23196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4"/>
              <a:buFont typeface="Nunito Sans"/>
              <a:buNone/>
            </a:pPr>
            <a:r>
              <a:rPr lang="en" sz="1324">
                <a:solidFill>
                  <a:schemeClr val="lt1"/>
                </a:solidFill>
              </a:rPr>
              <a:t>Si la confianza del modelo supera el umbral definido, se muestra el texto reconocido al funcionario; si no, se solicita al paciente repetir la seña </a:t>
            </a:r>
            <a:endParaRPr b="0" i="0" sz="1324" u="none" cap="none" strike="noStrike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272" name="Google Shape;272;g3f9bca7d2e9_0_165"/>
          <p:cNvCxnSpPr>
            <a:stCxn id="255" idx="2"/>
            <a:endCxn id="266" idx="0"/>
          </p:cNvCxnSpPr>
          <p:nvPr/>
        </p:nvCxnSpPr>
        <p:spPr>
          <a:xfrm>
            <a:off x="6854335" y="2759375"/>
            <a:ext cx="0" cy="3204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273" name="Google Shape;273;g3f9bca7d2e9_0_165"/>
          <p:cNvCxnSpPr>
            <a:endCxn id="269" idx="3"/>
          </p:cNvCxnSpPr>
          <p:nvPr/>
        </p:nvCxnSpPr>
        <p:spPr>
          <a:xfrm rot="10800000">
            <a:off x="3657525" y="3979968"/>
            <a:ext cx="1835400" cy="54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274" name="Google Shape;274;g3f9bca7d2e9_0_165"/>
          <p:cNvCxnSpPr>
            <a:stCxn id="269" idx="0"/>
            <a:endCxn id="252" idx="2"/>
          </p:cNvCxnSpPr>
          <p:nvPr/>
        </p:nvCxnSpPr>
        <p:spPr>
          <a:xfrm rot="10800000">
            <a:off x="2289525" y="2801268"/>
            <a:ext cx="0" cy="327300"/>
          </a:xfrm>
          <a:prstGeom prst="straightConnector1">
            <a:avLst/>
          </a:prstGeom>
          <a:noFill/>
          <a:ln cap="flat" cmpd="sng" w="9000">
            <a:solidFill>
              <a:schemeClr val="dk1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275" name="Google Shape;275;g3f9bca7d2e9_0_165"/>
          <p:cNvSpPr txBox="1"/>
          <p:nvPr/>
        </p:nvSpPr>
        <p:spPr>
          <a:xfrm>
            <a:off x="770750" y="717075"/>
            <a:ext cx="705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Desarrollaremos un modelo de Deep Learning capaz de reconocer Lengua de Señas Chilena (LSCh) en tiempo real </a:t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9bca7d2e9_1_23" title="Captura de pantalla 2026-08-26 1123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175" y="1278275"/>
            <a:ext cx="4201276" cy="264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f9bca7d2e9_1_23" title="Captura de pantalla 2026-08-26 1124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700" y="1170800"/>
            <a:ext cx="3982201" cy="27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9bca7d2e9_1_23"/>
          <p:cNvSpPr txBox="1"/>
          <p:nvPr>
            <p:ph type="title"/>
          </p:nvPr>
        </p:nvSpPr>
        <p:spPr>
          <a:xfrm>
            <a:off x="249075" y="360950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Nuestras 2 Vistas Principales</a:t>
            </a:r>
            <a:endParaRPr/>
          </a:p>
        </p:txBody>
      </p:sp>
      <p:grpSp>
        <p:nvGrpSpPr>
          <p:cNvPr id="283" name="Google Shape;283;g3f9bca7d2e9_1_23"/>
          <p:cNvGrpSpPr/>
          <p:nvPr/>
        </p:nvGrpSpPr>
        <p:grpSpPr>
          <a:xfrm>
            <a:off x="58575" y="1140596"/>
            <a:ext cx="4304651" cy="3508380"/>
            <a:chOff x="713100" y="941525"/>
            <a:chExt cx="4832343" cy="3662575"/>
          </a:xfrm>
        </p:grpSpPr>
        <p:sp>
          <p:nvSpPr>
            <p:cNvPr id="284" name="Google Shape;284;g3f9bca7d2e9_1_23"/>
            <p:cNvSpPr/>
            <p:nvPr/>
          </p:nvSpPr>
          <p:spPr>
            <a:xfrm>
              <a:off x="713100" y="941525"/>
              <a:ext cx="4832343" cy="3062135"/>
            </a:xfrm>
            <a:custGeom>
              <a:rect b="b" l="l" r="r" t="t"/>
              <a:pathLst>
                <a:path extrusionOk="0" h="21384" w="33746">
                  <a:moveTo>
                    <a:pt x="32548" y="1021"/>
                  </a:moveTo>
                  <a:lnTo>
                    <a:pt x="32548" y="20362"/>
                  </a:lnTo>
                  <a:lnTo>
                    <a:pt x="1197" y="20362"/>
                  </a:lnTo>
                  <a:lnTo>
                    <a:pt x="1197" y="1021"/>
                  </a:lnTo>
                  <a:close/>
                  <a:moveTo>
                    <a:pt x="477" y="0"/>
                  </a:moveTo>
                  <a:cubicBezTo>
                    <a:pt x="210" y="0"/>
                    <a:pt x="0" y="209"/>
                    <a:pt x="0" y="477"/>
                  </a:cubicBezTo>
                  <a:lnTo>
                    <a:pt x="0" y="20906"/>
                  </a:lnTo>
                  <a:cubicBezTo>
                    <a:pt x="0" y="21174"/>
                    <a:pt x="218" y="21384"/>
                    <a:pt x="477" y="21384"/>
                  </a:cubicBezTo>
                  <a:lnTo>
                    <a:pt x="33268" y="21384"/>
                  </a:lnTo>
                  <a:cubicBezTo>
                    <a:pt x="33536" y="21384"/>
                    <a:pt x="33745" y="21166"/>
                    <a:pt x="33745" y="20906"/>
                  </a:cubicBezTo>
                  <a:lnTo>
                    <a:pt x="33745" y="477"/>
                  </a:lnTo>
                  <a:cubicBezTo>
                    <a:pt x="33745" y="209"/>
                    <a:pt x="33536" y="0"/>
                    <a:pt x="33268" y="0"/>
                  </a:cubicBezTo>
                  <a:close/>
                </a:path>
              </a:pathLst>
            </a:custGeom>
            <a:solidFill>
              <a:srgbClr val="30394B"/>
            </a:solidFill>
            <a:ln>
              <a:noFill/>
            </a:ln>
          </p:spPr>
          <p:txBody>
            <a:bodyPr anchorCtr="0" anchor="ctr" bIns="81425" lIns="81425" spcFirstLastPara="1" rIns="81425" wrap="square" tIns="8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7"/>
                <a:buFont typeface="Arial"/>
                <a:buNone/>
              </a:pPr>
              <a:r>
                <a:t/>
              </a:r>
              <a:endParaRPr b="0" i="0" sz="1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f9bca7d2e9_1_23"/>
            <p:cNvSpPr/>
            <p:nvPr/>
          </p:nvSpPr>
          <p:spPr>
            <a:xfrm>
              <a:off x="2613755" y="3959897"/>
              <a:ext cx="1030879" cy="644167"/>
            </a:xfrm>
            <a:custGeom>
              <a:rect b="b" l="l" r="r" t="t"/>
              <a:pathLst>
                <a:path extrusionOk="0" h="4194" w="7199">
                  <a:moveTo>
                    <a:pt x="1" y="1"/>
                  </a:moveTo>
                  <a:lnTo>
                    <a:pt x="1" y="4194"/>
                  </a:lnTo>
                  <a:lnTo>
                    <a:pt x="7198" y="4194"/>
                  </a:lnTo>
                  <a:lnTo>
                    <a:pt x="7198" y="1"/>
                  </a:lnTo>
                  <a:close/>
                </a:path>
              </a:pathLst>
            </a:custGeom>
            <a:solidFill>
              <a:srgbClr val="30394B"/>
            </a:solidFill>
            <a:ln>
              <a:noFill/>
            </a:ln>
          </p:spPr>
          <p:txBody>
            <a:bodyPr anchorCtr="0" anchor="ctr" bIns="81425" lIns="81425" spcFirstLastPara="1" rIns="81425" wrap="square" tIns="8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7"/>
                <a:buFont typeface="Arial"/>
                <a:buNone/>
              </a:pPr>
              <a:r>
                <a:t/>
              </a:r>
              <a:endParaRPr b="0" i="0" sz="1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f9bca7d2e9_1_23"/>
            <p:cNvSpPr/>
            <p:nvPr/>
          </p:nvSpPr>
          <p:spPr>
            <a:xfrm>
              <a:off x="2613768" y="4003528"/>
              <a:ext cx="1030879" cy="285393"/>
            </a:xfrm>
            <a:custGeom>
              <a:rect b="b" l="l" r="r" t="t"/>
              <a:pathLst>
                <a:path extrusionOk="0" h="1993" w="7199">
                  <a:moveTo>
                    <a:pt x="1" y="1"/>
                  </a:moveTo>
                  <a:lnTo>
                    <a:pt x="1" y="980"/>
                  </a:lnTo>
                  <a:lnTo>
                    <a:pt x="7198" y="1992"/>
                  </a:lnTo>
                  <a:lnTo>
                    <a:pt x="7198" y="1"/>
                  </a:lnTo>
                  <a:close/>
                </a:path>
              </a:pathLst>
            </a:custGeom>
            <a:solidFill>
              <a:srgbClr val="000000">
                <a:alpha val="23920"/>
              </a:srgbClr>
            </a:solidFill>
            <a:ln>
              <a:noFill/>
            </a:ln>
          </p:spPr>
          <p:txBody>
            <a:bodyPr anchorCtr="0" anchor="ctr" bIns="81425" lIns="81425" spcFirstLastPara="1" rIns="81425" wrap="square" tIns="8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7"/>
                <a:buFont typeface="Arial"/>
                <a:buNone/>
              </a:pPr>
              <a:r>
                <a:t/>
              </a:r>
              <a:endParaRPr b="0" i="0" sz="1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f9bca7d2e9_1_23"/>
            <p:cNvSpPr/>
            <p:nvPr/>
          </p:nvSpPr>
          <p:spPr>
            <a:xfrm>
              <a:off x="2319066" y="4551260"/>
              <a:ext cx="1621568" cy="52840"/>
            </a:xfrm>
            <a:custGeom>
              <a:rect b="b" l="l" r="r" t="t"/>
              <a:pathLst>
                <a:path extrusionOk="0" h="369" w="11324">
                  <a:moveTo>
                    <a:pt x="67" y="0"/>
                  </a:moveTo>
                  <a:cubicBezTo>
                    <a:pt x="25" y="0"/>
                    <a:pt x="0" y="34"/>
                    <a:pt x="0" y="67"/>
                  </a:cubicBezTo>
                  <a:lnTo>
                    <a:pt x="0" y="293"/>
                  </a:lnTo>
                  <a:cubicBezTo>
                    <a:pt x="0" y="335"/>
                    <a:pt x="25" y="369"/>
                    <a:pt x="67" y="369"/>
                  </a:cubicBezTo>
                  <a:lnTo>
                    <a:pt x="11248" y="369"/>
                  </a:lnTo>
                  <a:cubicBezTo>
                    <a:pt x="11290" y="369"/>
                    <a:pt x="11324" y="335"/>
                    <a:pt x="11324" y="293"/>
                  </a:cubicBezTo>
                  <a:lnTo>
                    <a:pt x="11324" y="67"/>
                  </a:lnTo>
                  <a:cubicBezTo>
                    <a:pt x="11324" y="34"/>
                    <a:pt x="11290" y="0"/>
                    <a:pt x="11248" y="0"/>
                  </a:cubicBezTo>
                  <a:close/>
                </a:path>
              </a:pathLst>
            </a:custGeom>
            <a:solidFill>
              <a:srgbClr val="30394B"/>
            </a:solidFill>
            <a:ln>
              <a:noFill/>
            </a:ln>
          </p:spPr>
          <p:txBody>
            <a:bodyPr anchorCtr="0" anchor="ctr" bIns="81425" lIns="81425" spcFirstLastPara="1" rIns="81425" wrap="square" tIns="8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7"/>
                <a:buFont typeface="Arial"/>
                <a:buNone/>
              </a:pPr>
              <a:r>
                <a:t/>
              </a:r>
              <a:endParaRPr b="0" i="0" sz="1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g3f9bca7d2e9_1_23"/>
          <p:cNvGrpSpPr/>
          <p:nvPr/>
        </p:nvGrpSpPr>
        <p:grpSpPr>
          <a:xfrm>
            <a:off x="4514199" y="1140601"/>
            <a:ext cx="4495045" cy="3508380"/>
            <a:chOff x="713100" y="941525"/>
            <a:chExt cx="4832343" cy="3662575"/>
          </a:xfrm>
        </p:grpSpPr>
        <p:sp>
          <p:nvSpPr>
            <p:cNvPr id="289" name="Google Shape;289;g3f9bca7d2e9_1_23"/>
            <p:cNvSpPr/>
            <p:nvPr/>
          </p:nvSpPr>
          <p:spPr>
            <a:xfrm>
              <a:off x="713100" y="941525"/>
              <a:ext cx="4832343" cy="3062135"/>
            </a:xfrm>
            <a:custGeom>
              <a:rect b="b" l="l" r="r" t="t"/>
              <a:pathLst>
                <a:path extrusionOk="0" h="21384" w="33746">
                  <a:moveTo>
                    <a:pt x="32548" y="1021"/>
                  </a:moveTo>
                  <a:lnTo>
                    <a:pt x="32548" y="20362"/>
                  </a:lnTo>
                  <a:lnTo>
                    <a:pt x="1197" y="20362"/>
                  </a:lnTo>
                  <a:lnTo>
                    <a:pt x="1197" y="1021"/>
                  </a:lnTo>
                  <a:close/>
                  <a:moveTo>
                    <a:pt x="477" y="0"/>
                  </a:moveTo>
                  <a:cubicBezTo>
                    <a:pt x="210" y="0"/>
                    <a:pt x="0" y="209"/>
                    <a:pt x="0" y="477"/>
                  </a:cubicBezTo>
                  <a:lnTo>
                    <a:pt x="0" y="20906"/>
                  </a:lnTo>
                  <a:cubicBezTo>
                    <a:pt x="0" y="21174"/>
                    <a:pt x="218" y="21384"/>
                    <a:pt x="477" y="21384"/>
                  </a:cubicBezTo>
                  <a:lnTo>
                    <a:pt x="33268" y="21384"/>
                  </a:lnTo>
                  <a:cubicBezTo>
                    <a:pt x="33536" y="21384"/>
                    <a:pt x="33745" y="21166"/>
                    <a:pt x="33745" y="20906"/>
                  </a:cubicBezTo>
                  <a:lnTo>
                    <a:pt x="33745" y="477"/>
                  </a:lnTo>
                  <a:cubicBezTo>
                    <a:pt x="33745" y="209"/>
                    <a:pt x="33536" y="0"/>
                    <a:pt x="33268" y="0"/>
                  </a:cubicBezTo>
                  <a:close/>
                </a:path>
              </a:pathLst>
            </a:custGeom>
            <a:solidFill>
              <a:srgbClr val="30394B"/>
            </a:solidFill>
            <a:ln>
              <a:noFill/>
            </a:ln>
          </p:spPr>
          <p:txBody>
            <a:bodyPr anchorCtr="0" anchor="ctr" bIns="85025" lIns="85025" spcFirstLastPara="1" rIns="85025" wrap="square" tIns="8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f9bca7d2e9_1_23"/>
            <p:cNvSpPr/>
            <p:nvPr/>
          </p:nvSpPr>
          <p:spPr>
            <a:xfrm>
              <a:off x="2613755" y="3959897"/>
              <a:ext cx="1030879" cy="644167"/>
            </a:xfrm>
            <a:custGeom>
              <a:rect b="b" l="l" r="r" t="t"/>
              <a:pathLst>
                <a:path extrusionOk="0" h="4194" w="7199">
                  <a:moveTo>
                    <a:pt x="1" y="1"/>
                  </a:moveTo>
                  <a:lnTo>
                    <a:pt x="1" y="4194"/>
                  </a:lnTo>
                  <a:lnTo>
                    <a:pt x="7198" y="4194"/>
                  </a:lnTo>
                  <a:lnTo>
                    <a:pt x="7198" y="1"/>
                  </a:lnTo>
                  <a:close/>
                </a:path>
              </a:pathLst>
            </a:custGeom>
            <a:solidFill>
              <a:srgbClr val="30394B"/>
            </a:solidFill>
            <a:ln>
              <a:noFill/>
            </a:ln>
          </p:spPr>
          <p:txBody>
            <a:bodyPr anchorCtr="0" anchor="ctr" bIns="85025" lIns="85025" spcFirstLastPara="1" rIns="85025" wrap="square" tIns="8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f9bca7d2e9_1_23"/>
            <p:cNvSpPr/>
            <p:nvPr/>
          </p:nvSpPr>
          <p:spPr>
            <a:xfrm>
              <a:off x="2613768" y="4003528"/>
              <a:ext cx="1030879" cy="285393"/>
            </a:xfrm>
            <a:custGeom>
              <a:rect b="b" l="l" r="r" t="t"/>
              <a:pathLst>
                <a:path extrusionOk="0" h="1993" w="7199">
                  <a:moveTo>
                    <a:pt x="1" y="1"/>
                  </a:moveTo>
                  <a:lnTo>
                    <a:pt x="1" y="980"/>
                  </a:lnTo>
                  <a:lnTo>
                    <a:pt x="7198" y="1992"/>
                  </a:lnTo>
                  <a:lnTo>
                    <a:pt x="7198" y="1"/>
                  </a:lnTo>
                  <a:close/>
                </a:path>
              </a:pathLst>
            </a:custGeom>
            <a:solidFill>
              <a:srgbClr val="000000">
                <a:alpha val="23920"/>
              </a:srgbClr>
            </a:solidFill>
            <a:ln>
              <a:noFill/>
            </a:ln>
          </p:spPr>
          <p:txBody>
            <a:bodyPr anchorCtr="0" anchor="ctr" bIns="85025" lIns="85025" spcFirstLastPara="1" rIns="85025" wrap="square" tIns="8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f9bca7d2e9_1_23"/>
            <p:cNvSpPr/>
            <p:nvPr/>
          </p:nvSpPr>
          <p:spPr>
            <a:xfrm>
              <a:off x="2319066" y="4551260"/>
              <a:ext cx="1621568" cy="52840"/>
            </a:xfrm>
            <a:custGeom>
              <a:rect b="b" l="l" r="r" t="t"/>
              <a:pathLst>
                <a:path extrusionOk="0" h="369" w="11324">
                  <a:moveTo>
                    <a:pt x="67" y="0"/>
                  </a:moveTo>
                  <a:cubicBezTo>
                    <a:pt x="25" y="0"/>
                    <a:pt x="0" y="34"/>
                    <a:pt x="0" y="67"/>
                  </a:cubicBezTo>
                  <a:lnTo>
                    <a:pt x="0" y="293"/>
                  </a:lnTo>
                  <a:cubicBezTo>
                    <a:pt x="0" y="335"/>
                    <a:pt x="25" y="369"/>
                    <a:pt x="67" y="369"/>
                  </a:cubicBezTo>
                  <a:lnTo>
                    <a:pt x="11248" y="369"/>
                  </a:lnTo>
                  <a:cubicBezTo>
                    <a:pt x="11290" y="369"/>
                    <a:pt x="11324" y="335"/>
                    <a:pt x="11324" y="293"/>
                  </a:cubicBezTo>
                  <a:lnTo>
                    <a:pt x="11324" y="67"/>
                  </a:lnTo>
                  <a:cubicBezTo>
                    <a:pt x="11324" y="34"/>
                    <a:pt x="11290" y="0"/>
                    <a:pt x="11248" y="0"/>
                  </a:cubicBezTo>
                  <a:close/>
                </a:path>
              </a:pathLst>
            </a:custGeom>
            <a:solidFill>
              <a:srgbClr val="30394B"/>
            </a:solidFill>
            <a:ln>
              <a:noFill/>
            </a:ln>
          </p:spPr>
          <p:txBody>
            <a:bodyPr anchorCtr="0" anchor="ctr" bIns="85025" lIns="85025" spcFirstLastPara="1" rIns="85025" wrap="square" tIns="8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g3f9bca7d2e9_1_23"/>
          <p:cNvSpPr/>
          <p:nvPr/>
        </p:nvSpPr>
        <p:spPr>
          <a:xfrm>
            <a:off x="2157950" y="1170800"/>
            <a:ext cx="105900" cy="92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g3f9bca7d2e9_0_124"/>
          <p:cNvCxnSpPr/>
          <p:nvPr/>
        </p:nvCxnSpPr>
        <p:spPr>
          <a:xfrm>
            <a:off x="7050" y="2953275"/>
            <a:ext cx="9137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9" name="Google Shape;299;g3f9bca7d2e9_0_124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Flujo de procesos</a:t>
            </a:r>
            <a:endParaRPr/>
          </a:p>
        </p:txBody>
      </p:sp>
      <p:sp>
        <p:nvSpPr>
          <p:cNvPr id="300" name="Google Shape;300;g3f9bca7d2e9_0_124"/>
          <p:cNvSpPr txBox="1"/>
          <p:nvPr>
            <p:ph idx="4294967295" type="subTitle"/>
          </p:nvPr>
        </p:nvSpPr>
        <p:spPr>
          <a:xfrm>
            <a:off x="713100" y="1443564"/>
            <a:ext cx="170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Pregunta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g3f9bca7d2e9_0_124"/>
          <p:cNvSpPr txBox="1"/>
          <p:nvPr>
            <p:ph idx="4294967295" type="subTitle"/>
          </p:nvPr>
        </p:nvSpPr>
        <p:spPr>
          <a:xfrm>
            <a:off x="713100" y="1788064"/>
            <a:ext cx="1707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/>
              <a:t>Funcionario selecciona una pregunta.</a:t>
            </a:r>
            <a:endParaRPr b="0" i="0" sz="14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2" name="Google Shape;302;g3f9bca7d2e9_0_124"/>
          <p:cNvSpPr txBox="1"/>
          <p:nvPr>
            <p:ph idx="4294967295" type="subTitle"/>
          </p:nvPr>
        </p:nvSpPr>
        <p:spPr>
          <a:xfrm>
            <a:off x="3559838" y="1443564"/>
            <a:ext cx="170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Captura 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3f9bca7d2e9_0_124"/>
          <p:cNvSpPr txBox="1"/>
          <p:nvPr>
            <p:ph idx="4294967295" type="subTitle"/>
          </p:nvPr>
        </p:nvSpPr>
        <p:spPr>
          <a:xfrm>
            <a:off x="3559838" y="1788064"/>
            <a:ext cx="1707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/>
              <a:t>La cámara registra la seña. </a:t>
            </a:r>
            <a:endParaRPr b="0" i="0" sz="14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4" name="Google Shape;304;g3f9bca7d2e9_0_124"/>
          <p:cNvSpPr txBox="1"/>
          <p:nvPr>
            <p:ph idx="4294967295" type="subTitle"/>
          </p:nvPr>
        </p:nvSpPr>
        <p:spPr>
          <a:xfrm>
            <a:off x="6406575" y="1443564"/>
            <a:ext cx="170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Texto 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g3f9bca7d2e9_0_124"/>
          <p:cNvSpPr txBox="1"/>
          <p:nvPr>
            <p:ph idx="4294967295" type="subTitle"/>
          </p:nvPr>
        </p:nvSpPr>
        <p:spPr>
          <a:xfrm>
            <a:off x="6406575" y="1788064"/>
            <a:ext cx="1707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/>
              <a:t>Se muestra el resultado al funcionario. </a:t>
            </a:r>
            <a:endParaRPr b="0" i="0" sz="14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6" name="Google Shape;306;g3f9bca7d2e9_0_124"/>
          <p:cNvSpPr txBox="1"/>
          <p:nvPr>
            <p:ph idx="4294967295" type="subTitle"/>
          </p:nvPr>
        </p:nvSpPr>
        <p:spPr>
          <a:xfrm>
            <a:off x="2136469" y="3260786"/>
            <a:ext cx="1707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Respuesta 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g3f9bca7d2e9_0_124"/>
          <p:cNvSpPr txBox="1"/>
          <p:nvPr>
            <p:ph idx="4294967295" type="subTitle"/>
          </p:nvPr>
        </p:nvSpPr>
        <p:spPr>
          <a:xfrm>
            <a:off x="2136469" y="3605287"/>
            <a:ext cx="1707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/>
              <a:t>Paciente responde mediante LSCh. </a:t>
            </a:r>
            <a:endParaRPr b="0" i="0" sz="14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g3f9bca7d2e9_0_124"/>
          <p:cNvSpPr txBox="1"/>
          <p:nvPr>
            <p:ph idx="4294967295" type="subTitle"/>
          </p:nvPr>
        </p:nvSpPr>
        <p:spPr>
          <a:xfrm>
            <a:off x="4900075" y="3260775"/>
            <a:ext cx="1939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Reconocimiento 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g3f9bca7d2e9_0_124"/>
          <p:cNvSpPr txBox="1"/>
          <p:nvPr>
            <p:ph idx="4294967295" type="subTitle"/>
          </p:nvPr>
        </p:nvSpPr>
        <p:spPr>
          <a:xfrm>
            <a:off x="4983206" y="3605287"/>
            <a:ext cx="1707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lang="en"/>
              <a:t>El sistema identifica la respuesta. </a:t>
            </a:r>
            <a:endParaRPr b="0" i="0" sz="14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0" name="Google Shape;310;g3f9bca7d2e9_0_124"/>
          <p:cNvSpPr/>
          <p:nvPr/>
        </p:nvSpPr>
        <p:spPr>
          <a:xfrm>
            <a:off x="1254450" y="2645775"/>
            <a:ext cx="624300" cy="6219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4">
                <a:alpha val="502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9bca7d2e9_0_124"/>
          <p:cNvSpPr txBox="1"/>
          <p:nvPr>
            <p:ph idx="4294967295" type="title"/>
          </p:nvPr>
        </p:nvSpPr>
        <p:spPr>
          <a:xfrm>
            <a:off x="1326900" y="2808075"/>
            <a:ext cx="479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12" name="Google Shape;312;g3f9bca7d2e9_0_124"/>
          <p:cNvSpPr/>
          <p:nvPr/>
        </p:nvSpPr>
        <p:spPr>
          <a:xfrm>
            <a:off x="2677819" y="2645775"/>
            <a:ext cx="624300" cy="6219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4">
                <a:alpha val="502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9bca7d2e9_0_124"/>
          <p:cNvSpPr/>
          <p:nvPr/>
        </p:nvSpPr>
        <p:spPr>
          <a:xfrm>
            <a:off x="5524556" y="2645775"/>
            <a:ext cx="624300" cy="6219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4">
                <a:alpha val="502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9bca7d2e9_0_124"/>
          <p:cNvSpPr/>
          <p:nvPr/>
        </p:nvSpPr>
        <p:spPr>
          <a:xfrm>
            <a:off x="6947925" y="2645775"/>
            <a:ext cx="624300" cy="6219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4">
                <a:alpha val="502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9bca7d2e9_0_124"/>
          <p:cNvSpPr/>
          <p:nvPr/>
        </p:nvSpPr>
        <p:spPr>
          <a:xfrm>
            <a:off x="4101188" y="2645775"/>
            <a:ext cx="624300" cy="6219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4">
                <a:alpha val="502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9bca7d2e9_0_124"/>
          <p:cNvSpPr txBox="1"/>
          <p:nvPr>
            <p:ph idx="4294967295" type="title"/>
          </p:nvPr>
        </p:nvSpPr>
        <p:spPr>
          <a:xfrm>
            <a:off x="2750275" y="2808075"/>
            <a:ext cx="479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17" name="Google Shape;317;g3f9bca7d2e9_0_124"/>
          <p:cNvSpPr txBox="1"/>
          <p:nvPr>
            <p:ph idx="4294967295" type="title"/>
          </p:nvPr>
        </p:nvSpPr>
        <p:spPr>
          <a:xfrm>
            <a:off x="4173638" y="2808075"/>
            <a:ext cx="479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18" name="Google Shape;318;g3f9bca7d2e9_0_124"/>
          <p:cNvSpPr txBox="1"/>
          <p:nvPr>
            <p:ph idx="4294967295" type="title"/>
          </p:nvPr>
        </p:nvSpPr>
        <p:spPr>
          <a:xfrm>
            <a:off x="5597006" y="2808075"/>
            <a:ext cx="479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19" name="Google Shape;319;g3f9bca7d2e9_0_124"/>
          <p:cNvSpPr txBox="1"/>
          <p:nvPr>
            <p:ph idx="4294967295" type="title"/>
          </p:nvPr>
        </p:nvSpPr>
        <p:spPr>
          <a:xfrm>
            <a:off x="7020375" y="2808075"/>
            <a:ext cx="479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>
                <a:solidFill>
                  <a:schemeClr val="lt1"/>
                </a:solidFill>
              </a:rPr>
              <a:t>05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20" name="Google Shape;320;g3f9bca7d2e9_0_124"/>
          <p:cNvSpPr txBox="1"/>
          <p:nvPr/>
        </p:nvSpPr>
        <p:spPr>
          <a:xfrm>
            <a:off x="2076150" y="4570250"/>
            <a:ext cx="4991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MVP limitado a un vocabulario cerrado de 21 conceptos* </a:t>
            </a:r>
            <a:endParaRPr b="1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9d5485513_2_30"/>
          <p:cNvSpPr/>
          <p:nvPr/>
        </p:nvSpPr>
        <p:spPr>
          <a:xfrm>
            <a:off x="1420120" y="1519375"/>
            <a:ext cx="2837700" cy="132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9d5485513_2_30"/>
          <p:cNvSpPr txBox="1"/>
          <p:nvPr>
            <p:ph type="title"/>
          </p:nvPr>
        </p:nvSpPr>
        <p:spPr>
          <a:xfrm>
            <a:off x="946025" y="368825"/>
            <a:ext cx="292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Competencias</a:t>
            </a:r>
            <a:endParaRPr/>
          </a:p>
        </p:txBody>
      </p:sp>
      <p:sp>
        <p:nvSpPr>
          <p:cNvPr id="327" name="Google Shape;327;g3f9d5485513_2_30"/>
          <p:cNvSpPr txBox="1"/>
          <p:nvPr>
            <p:ph idx="1" type="subTitle"/>
          </p:nvPr>
        </p:nvSpPr>
        <p:spPr>
          <a:xfrm>
            <a:off x="1567842" y="1577105"/>
            <a:ext cx="2542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1"/>
              <a:buNone/>
            </a:pPr>
            <a:r>
              <a:rPr lang="en" sz="1200"/>
              <a:t>Desarrollar una solución de software </a:t>
            </a:r>
            <a:endParaRPr sz="1200"/>
          </a:p>
        </p:txBody>
      </p:sp>
      <p:sp>
        <p:nvSpPr>
          <p:cNvPr id="328" name="Google Shape;328;g3f9d5485513_2_30"/>
          <p:cNvSpPr txBox="1"/>
          <p:nvPr>
            <p:ph idx="2" type="subTitle"/>
          </p:nvPr>
        </p:nvSpPr>
        <p:spPr>
          <a:xfrm>
            <a:off x="1509373" y="2064036"/>
            <a:ext cx="2766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14"/>
              <a:t>Sistema web integrado de captura, reconocimiento y visualización de señas </a:t>
            </a:r>
            <a:endParaRPr sz="1114"/>
          </a:p>
        </p:txBody>
      </p:sp>
      <p:sp>
        <p:nvSpPr>
          <p:cNvPr id="329" name="Google Shape;329;g3f9d5485513_2_30"/>
          <p:cNvSpPr/>
          <p:nvPr/>
        </p:nvSpPr>
        <p:spPr>
          <a:xfrm>
            <a:off x="4850376" y="1519375"/>
            <a:ext cx="2837700" cy="132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9d5485513_2_30"/>
          <p:cNvSpPr txBox="1"/>
          <p:nvPr>
            <p:ph idx="1" type="subTitle"/>
          </p:nvPr>
        </p:nvSpPr>
        <p:spPr>
          <a:xfrm>
            <a:off x="4998098" y="1506323"/>
            <a:ext cx="2542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1"/>
              <a:buNone/>
            </a:pPr>
            <a:r>
              <a:rPr lang="en" sz="1200"/>
              <a:t>Construir programas y rutinas para dar solución a requerimientos </a:t>
            </a:r>
            <a:endParaRPr sz="1200"/>
          </a:p>
        </p:txBody>
      </p:sp>
      <p:sp>
        <p:nvSpPr>
          <p:cNvPr id="331" name="Google Shape;331;g3f9d5485513_2_30"/>
          <p:cNvSpPr txBox="1"/>
          <p:nvPr>
            <p:ph idx="2" type="subTitle"/>
          </p:nvPr>
        </p:nvSpPr>
        <p:spPr>
          <a:xfrm>
            <a:off x="4939629" y="2119089"/>
            <a:ext cx="2766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14"/>
              <a:t>Scripts de procesamiento, extracción de landmarks y entrenamiento del modelo </a:t>
            </a:r>
            <a:endParaRPr sz="1114"/>
          </a:p>
        </p:txBody>
      </p:sp>
      <p:sp>
        <p:nvSpPr>
          <p:cNvPr id="332" name="Google Shape;332;g3f9d5485513_2_30"/>
          <p:cNvSpPr/>
          <p:nvPr/>
        </p:nvSpPr>
        <p:spPr>
          <a:xfrm>
            <a:off x="249550" y="3282225"/>
            <a:ext cx="2904600" cy="132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9d5485513_2_30"/>
          <p:cNvSpPr txBox="1"/>
          <p:nvPr>
            <p:ph idx="1" type="subTitle"/>
          </p:nvPr>
        </p:nvSpPr>
        <p:spPr>
          <a:xfrm>
            <a:off x="400755" y="3277037"/>
            <a:ext cx="2602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1"/>
              <a:buNone/>
            </a:pPr>
            <a:r>
              <a:rPr lang="en" sz="1200"/>
              <a:t>Construir el modelo arquitectónico de una solución sistémica </a:t>
            </a:r>
            <a:endParaRPr sz="1200"/>
          </a:p>
        </p:txBody>
      </p:sp>
      <p:sp>
        <p:nvSpPr>
          <p:cNvPr id="334" name="Google Shape;334;g3f9d5485513_2_30"/>
          <p:cNvSpPr txBox="1"/>
          <p:nvPr>
            <p:ph idx="2" type="subTitle"/>
          </p:nvPr>
        </p:nvSpPr>
        <p:spPr>
          <a:xfrm>
            <a:off x="340908" y="3929126"/>
            <a:ext cx="28320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14"/>
              <a:t>Arquitectura de datos entre cámara, modelo e interfaz; diseño de BD y API</a:t>
            </a:r>
            <a:endParaRPr sz="1114"/>
          </a:p>
        </p:txBody>
      </p:sp>
      <p:sp>
        <p:nvSpPr>
          <p:cNvPr id="335" name="Google Shape;335;g3f9d5485513_2_30"/>
          <p:cNvSpPr/>
          <p:nvPr/>
        </p:nvSpPr>
        <p:spPr>
          <a:xfrm>
            <a:off x="3223585" y="3282225"/>
            <a:ext cx="2837700" cy="132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f9d5485513_2_30"/>
          <p:cNvSpPr txBox="1"/>
          <p:nvPr>
            <p:ph idx="1" type="subTitle"/>
          </p:nvPr>
        </p:nvSpPr>
        <p:spPr>
          <a:xfrm>
            <a:off x="3371308" y="3339955"/>
            <a:ext cx="2542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1"/>
              <a:buNone/>
            </a:pPr>
            <a:r>
              <a:rPr lang="en" sz="1200"/>
              <a:t>Implementar soluciones sistémicas integrales </a:t>
            </a:r>
            <a:endParaRPr sz="1200"/>
          </a:p>
        </p:txBody>
      </p:sp>
      <p:sp>
        <p:nvSpPr>
          <p:cNvPr id="337" name="Google Shape;337;g3f9d5485513_2_30"/>
          <p:cNvSpPr txBox="1"/>
          <p:nvPr>
            <p:ph idx="2" type="subTitle"/>
          </p:nvPr>
        </p:nvSpPr>
        <p:spPr>
          <a:xfrm>
            <a:off x="3312839" y="3866210"/>
            <a:ext cx="2766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14"/>
              <a:t>Integración end-to-end, desde captura hasta visualización, en un entorno desplegado. </a:t>
            </a:r>
            <a:endParaRPr sz="1114"/>
          </a:p>
        </p:txBody>
      </p:sp>
      <p:sp>
        <p:nvSpPr>
          <p:cNvPr id="338" name="Google Shape;338;g3f9d5485513_2_30"/>
          <p:cNvSpPr/>
          <p:nvPr/>
        </p:nvSpPr>
        <p:spPr>
          <a:xfrm>
            <a:off x="6130698" y="3282225"/>
            <a:ext cx="2837700" cy="1320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f9d5485513_2_30"/>
          <p:cNvSpPr txBox="1"/>
          <p:nvPr>
            <p:ph idx="2" type="subTitle"/>
          </p:nvPr>
        </p:nvSpPr>
        <p:spPr>
          <a:xfrm>
            <a:off x="6219951" y="3921262"/>
            <a:ext cx="2766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14"/>
              <a:t>Canal de comunicación autónomo para la comunidad sorda en atención primaria. </a:t>
            </a:r>
            <a:endParaRPr sz="1114"/>
          </a:p>
        </p:txBody>
      </p:sp>
      <p:sp>
        <p:nvSpPr>
          <p:cNvPr id="340" name="Google Shape;340;g3f9d5485513_2_30"/>
          <p:cNvSpPr txBox="1"/>
          <p:nvPr>
            <p:ph idx="1" type="subTitle"/>
          </p:nvPr>
        </p:nvSpPr>
        <p:spPr>
          <a:xfrm>
            <a:off x="6278420" y="3339955"/>
            <a:ext cx="2542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75" lIns="78375" spcFirstLastPara="1" rIns="78375" wrap="square" tIns="78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1"/>
              <a:buNone/>
            </a:pPr>
            <a:r>
              <a:rPr lang="en" sz="1200"/>
              <a:t>Elaborar proyectos innovadores con valor social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9dec41978_1_1"/>
          <p:cNvSpPr/>
          <p:nvPr/>
        </p:nvSpPr>
        <p:spPr>
          <a:xfrm>
            <a:off x="4688375" y="2485244"/>
            <a:ext cx="1631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9dec41978_1_1"/>
          <p:cNvSpPr/>
          <p:nvPr/>
        </p:nvSpPr>
        <p:spPr>
          <a:xfrm>
            <a:off x="1042025" y="2485244"/>
            <a:ext cx="1748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9dec41978_1_1"/>
          <p:cNvSpPr txBox="1"/>
          <p:nvPr>
            <p:ph idx="4294967295" type="subTitle"/>
          </p:nvPr>
        </p:nvSpPr>
        <p:spPr>
          <a:xfrm>
            <a:off x="1204096" y="2557926"/>
            <a:ext cx="1307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18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Preparación y Arquitectura (Semanas 1-4)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g3f9dec41978_1_1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Metodología Scrum</a:t>
            </a:r>
            <a:endParaRPr/>
          </a:p>
        </p:txBody>
      </p:sp>
      <p:sp>
        <p:nvSpPr>
          <p:cNvPr id="349" name="Google Shape;349;g3f9dec41978_1_1"/>
          <p:cNvSpPr txBox="1"/>
          <p:nvPr>
            <p:ph idx="4294967295" type="subTitle"/>
          </p:nvPr>
        </p:nvSpPr>
        <p:spPr>
          <a:xfrm>
            <a:off x="1262516" y="3275909"/>
            <a:ext cx="13071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Vocabulario, wireframes, arquitectura y base de datos.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0" name="Google Shape;350;g3f9dec41978_1_1"/>
          <p:cNvSpPr/>
          <p:nvPr/>
        </p:nvSpPr>
        <p:spPr>
          <a:xfrm>
            <a:off x="2865200" y="2485244"/>
            <a:ext cx="1631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9dec41978_1_1"/>
          <p:cNvSpPr txBox="1"/>
          <p:nvPr>
            <p:ph idx="4294967295" type="subTitle"/>
          </p:nvPr>
        </p:nvSpPr>
        <p:spPr>
          <a:xfrm>
            <a:off x="2957825" y="2557919"/>
            <a:ext cx="1538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18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 y Desarrollo Base (Semanas 5-8)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g3f9dec41978_1_1"/>
          <p:cNvSpPr txBox="1"/>
          <p:nvPr>
            <p:ph idx="4294967295" type="subTitle"/>
          </p:nvPr>
        </p:nvSpPr>
        <p:spPr>
          <a:xfrm>
            <a:off x="3038365" y="3272974"/>
            <a:ext cx="13071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Grabación validada del dataset LSCh y desarrollo frontend/backend.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3" name="Google Shape;353;g3f9dec41978_1_1"/>
          <p:cNvSpPr txBox="1"/>
          <p:nvPr>
            <p:ph idx="4294967295" type="subTitle"/>
          </p:nvPr>
        </p:nvSpPr>
        <p:spPr>
          <a:xfrm>
            <a:off x="4789712" y="2557916"/>
            <a:ext cx="1469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18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Entrenamiento e Integración (Semanas 9-14)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g3f9dec41978_1_1"/>
          <p:cNvSpPr txBox="1"/>
          <p:nvPr>
            <p:ph idx="4294967295" type="subTitle"/>
          </p:nvPr>
        </p:nvSpPr>
        <p:spPr>
          <a:xfrm>
            <a:off x="4870692" y="3253198"/>
            <a:ext cx="13071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Modelo de reconocimiento entrenado e integrado al sistema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5" name="Google Shape;355;g3f9dec41978_1_1"/>
          <p:cNvSpPr/>
          <p:nvPr/>
        </p:nvSpPr>
        <p:spPr>
          <a:xfrm>
            <a:off x="6470875" y="2485244"/>
            <a:ext cx="1631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f9dec41978_1_1"/>
          <p:cNvSpPr txBox="1"/>
          <p:nvPr>
            <p:ph idx="4294967295" type="subTitle"/>
          </p:nvPr>
        </p:nvSpPr>
        <p:spPr>
          <a:xfrm>
            <a:off x="6511325" y="2557919"/>
            <a:ext cx="1538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18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Despliegue y Cierre </a:t>
            </a:r>
            <a:endParaRPr b="1" sz="118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18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(Semanas 15-18)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g3f9dec41978_1_1"/>
          <p:cNvSpPr txBox="1"/>
          <p:nvPr>
            <p:ph idx="4294967295" type="subTitle"/>
          </p:nvPr>
        </p:nvSpPr>
        <p:spPr>
          <a:xfrm>
            <a:off x="6627129" y="3284933"/>
            <a:ext cx="13071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Deploy, pruebas con usuarios, documentación y defensa.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8" name="Google Shape;358;g3f9dec41978_1_1"/>
          <p:cNvSpPr txBox="1"/>
          <p:nvPr/>
        </p:nvSpPr>
        <p:spPr>
          <a:xfrm>
            <a:off x="1053000" y="4519200"/>
            <a:ext cx="619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Enfoque iterativo con revisiones semanales y ajustes según resultados.* </a:t>
            </a:r>
            <a:endParaRPr/>
          </a:p>
        </p:txBody>
      </p:sp>
      <p:sp>
        <p:nvSpPr>
          <p:cNvPr id="359" name="Google Shape;359;g3f9dec41978_1_1"/>
          <p:cNvSpPr txBox="1"/>
          <p:nvPr/>
        </p:nvSpPr>
        <p:spPr>
          <a:xfrm>
            <a:off x="1042025" y="1050438"/>
            <a:ext cx="58821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El proyecto se desarrolla bajo un enfoque ágil basado en Scrum, con roles definidos (Scrum Master, Product Owner, Developers). El trabajo se planifica y da seguimiento mediante un Product Backlog y Sprint Backlog, con historias de usuario desglosadas en tareas y seguimiento diario de avance.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9dec41978_0_5"/>
          <p:cNvSpPr/>
          <p:nvPr/>
        </p:nvSpPr>
        <p:spPr>
          <a:xfrm>
            <a:off x="308550" y="1496100"/>
            <a:ext cx="1970100" cy="21012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9dec41978_0_5"/>
          <p:cNvSpPr txBox="1"/>
          <p:nvPr>
            <p:ph idx="4294967295" type="subTitle"/>
          </p:nvPr>
        </p:nvSpPr>
        <p:spPr>
          <a:xfrm>
            <a:off x="504299" y="1699200"/>
            <a:ext cx="17373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Vicente Tramon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g3f9dec41978_0_5"/>
          <p:cNvSpPr txBox="1"/>
          <p:nvPr>
            <p:ph type="title"/>
          </p:nvPr>
        </p:nvSpPr>
        <p:spPr>
          <a:xfrm>
            <a:off x="713100" y="38377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367" name="Google Shape;367;g3f9dec41978_0_5"/>
          <p:cNvSpPr txBox="1"/>
          <p:nvPr>
            <p:ph idx="4294967295" type="subTitle"/>
          </p:nvPr>
        </p:nvSpPr>
        <p:spPr>
          <a:xfrm>
            <a:off x="344838" y="2107725"/>
            <a:ext cx="225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Full Stack / Data Science</a:t>
            </a:r>
            <a:endParaRPr b="1" sz="1052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368" name="Google Shape;368;g3f9dec41978_0_5"/>
          <p:cNvSpPr/>
          <p:nvPr/>
        </p:nvSpPr>
        <p:spPr>
          <a:xfrm>
            <a:off x="1338847" y="2761421"/>
            <a:ext cx="11707" cy="11462"/>
          </a:xfrm>
          <a:custGeom>
            <a:rect b="b" l="l" r="r" t="t"/>
            <a:pathLst>
              <a:path extrusionOk="0" h="513" w="524">
                <a:moveTo>
                  <a:pt x="262" y="0"/>
                </a:moveTo>
                <a:cubicBezTo>
                  <a:pt x="119" y="0"/>
                  <a:pt x="0" y="119"/>
                  <a:pt x="0" y="262"/>
                </a:cubicBezTo>
                <a:cubicBezTo>
                  <a:pt x="0" y="405"/>
                  <a:pt x="119" y="512"/>
                  <a:pt x="262" y="512"/>
                </a:cubicBezTo>
                <a:cubicBezTo>
                  <a:pt x="405" y="512"/>
                  <a:pt x="524" y="405"/>
                  <a:pt x="524" y="262"/>
                </a:cubicBezTo>
                <a:cubicBezTo>
                  <a:pt x="524" y="119"/>
                  <a:pt x="405" y="0"/>
                  <a:pt x="2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9dec41978_0_5"/>
          <p:cNvSpPr/>
          <p:nvPr/>
        </p:nvSpPr>
        <p:spPr>
          <a:xfrm>
            <a:off x="1234821" y="2744127"/>
            <a:ext cx="11730" cy="11462"/>
          </a:xfrm>
          <a:custGeom>
            <a:rect b="b" l="l" r="r" t="t"/>
            <a:pathLst>
              <a:path extrusionOk="0" h="513" w="525">
                <a:moveTo>
                  <a:pt x="263" y="0"/>
                </a:moveTo>
                <a:cubicBezTo>
                  <a:pt x="120" y="0"/>
                  <a:pt x="1" y="108"/>
                  <a:pt x="1" y="262"/>
                </a:cubicBezTo>
                <a:cubicBezTo>
                  <a:pt x="1" y="405"/>
                  <a:pt x="120" y="512"/>
                  <a:pt x="263" y="512"/>
                </a:cubicBezTo>
                <a:cubicBezTo>
                  <a:pt x="406" y="512"/>
                  <a:pt x="525" y="405"/>
                  <a:pt x="525" y="262"/>
                </a:cubicBezTo>
                <a:cubicBezTo>
                  <a:pt x="525" y="108"/>
                  <a:pt x="406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9dec41978_0_5"/>
          <p:cNvSpPr txBox="1"/>
          <p:nvPr/>
        </p:nvSpPr>
        <p:spPr>
          <a:xfrm>
            <a:off x="563288" y="2471975"/>
            <a:ext cx="15129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Desarrollo de la plataforma web y procesamiento del dataset de LSCh</a:t>
            </a:r>
            <a:endParaRPr sz="12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1" name="Google Shape;371;g3f9dec41978_0_5"/>
          <p:cNvSpPr/>
          <p:nvPr/>
        </p:nvSpPr>
        <p:spPr>
          <a:xfrm>
            <a:off x="2497900" y="1521150"/>
            <a:ext cx="1970100" cy="21012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f9dec41978_0_5"/>
          <p:cNvSpPr txBox="1"/>
          <p:nvPr>
            <p:ph idx="4294967295" type="subTitle"/>
          </p:nvPr>
        </p:nvSpPr>
        <p:spPr>
          <a:xfrm>
            <a:off x="2693659" y="1724243"/>
            <a:ext cx="1578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Diego Robert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g3f9dec41978_0_5"/>
          <p:cNvSpPr txBox="1"/>
          <p:nvPr>
            <p:ph idx="4294967295" type="subTitle"/>
          </p:nvPr>
        </p:nvSpPr>
        <p:spPr>
          <a:xfrm>
            <a:off x="2455550" y="2132775"/>
            <a:ext cx="213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Product Owner / Full Stack </a:t>
            </a:r>
            <a:endParaRPr b="1" sz="1052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374" name="Google Shape;374;g3f9dec41978_0_5"/>
          <p:cNvSpPr txBox="1"/>
          <p:nvPr/>
        </p:nvSpPr>
        <p:spPr>
          <a:xfrm>
            <a:off x="2655125" y="2471975"/>
            <a:ext cx="16734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Definición de requerimientos y desarrollo de la plataforma web. </a:t>
            </a:r>
            <a:endParaRPr sz="12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5" name="Google Shape;375;g3f9dec41978_0_5"/>
          <p:cNvSpPr/>
          <p:nvPr/>
        </p:nvSpPr>
        <p:spPr>
          <a:xfrm>
            <a:off x="4631125" y="1521150"/>
            <a:ext cx="1970100" cy="21012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9dec41978_0_5"/>
          <p:cNvSpPr txBox="1"/>
          <p:nvPr>
            <p:ph idx="4294967295" type="subTitle"/>
          </p:nvPr>
        </p:nvSpPr>
        <p:spPr>
          <a:xfrm>
            <a:off x="4826884" y="1724243"/>
            <a:ext cx="1578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Ariel Valverde 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g3f9dec41978_0_5"/>
          <p:cNvSpPr txBox="1"/>
          <p:nvPr>
            <p:ph idx="4294967295" type="subTitle"/>
          </p:nvPr>
        </p:nvSpPr>
        <p:spPr>
          <a:xfrm>
            <a:off x="4620234" y="2132775"/>
            <a:ext cx="213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Scrum Master / FullStack </a:t>
            </a:r>
            <a:endParaRPr b="1" sz="1052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378" name="Google Shape;378;g3f9dec41978_0_5"/>
          <p:cNvSpPr txBox="1"/>
          <p:nvPr/>
        </p:nvSpPr>
        <p:spPr>
          <a:xfrm>
            <a:off x="4705011" y="2532975"/>
            <a:ext cx="17874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Gestión ágil del proyecto y desarrollo de interfaz y backend. </a:t>
            </a:r>
            <a:endParaRPr sz="12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9" name="Google Shape;379;g3f9dec41978_0_5"/>
          <p:cNvSpPr/>
          <p:nvPr/>
        </p:nvSpPr>
        <p:spPr>
          <a:xfrm>
            <a:off x="6729400" y="1557100"/>
            <a:ext cx="1970100" cy="21012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f9dec41978_0_5"/>
          <p:cNvSpPr txBox="1"/>
          <p:nvPr>
            <p:ph idx="4294967295" type="subTitle"/>
          </p:nvPr>
        </p:nvSpPr>
        <p:spPr>
          <a:xfrm>
            <a:off x="6784898" y="1760200"/>
            <a:ext cx="1859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Martin Quiroga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g3f9dec41978_0_5"/>
          <p:cNvSpPr txBox="1"/>
          <p:nvPr>
            <p:ph idx="4294967295" type="subTitle"/>
          </p:nvPr>
        </p:nvSpPr>
        <p:spPr>
          <a:xfrm>
            <a:off x="6718509" y="2168725"/>
            <a:ext cx="213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Backend / Ingeniero de IA </a:t>
            </a:r>
            <a:endParaRPr b="1" sz="1052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382" name="Google Shape;382;g3f9dec41978_0_5"/>
          <p:cNvSpPr txBox="1"/>
          <p:nvPr/>
        </p:nvSpPr>
        <p:spPr>
          <a:xfrm>
            <a:off x="6874961" y="2532975"/>
            <a:ext cx="17874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Diseño, entrenamiento e integración del modelo de reconocimiento. </a:t>
            </a:r>
            <a:endParaRPr sz="12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Mapa Tecnológico y Arquitectura</a:t>
            </a:r>
            <a:endParaRPr/>
          </a:p>
        </p:txBody>
      </p:sp>
      <p:pic>
        <p:nvPicPr>
          <p:cNvPr id="388" name="Google Shape;38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875" y="990950"/>
            <a:ext cx="5124826" cy="403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9db6a4e0d_0_0"/>
          <p:cNvSpPr/>
          <p:nvPr/>
        </p:nvSpPr>
        <p:spPr>
          <a:xfrm>
            <a:off x="4730975" y="1195625"/>
            <a:ext cx="1970100" cy="27366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9db6a4e0d_0_0"/>
          <p:cNvSpPr/>
          <p:nvPr/>
        </p:nvSpPr>
        <p:spPr>
          <a:xfrm>
            <a:off x="327025" y="1195625"/>
            <a:ext cx="1970100" cy="27366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9db6a4e0d_0_0"/>
          <p:cNvSpPr txBox="1"/>
          <p:nvPr>
            <p:ph idx="4294967295" type="subTitle"/>
          </p:nvPr>
        </p:nvSpPr>
        <p:spPr>
          <a:xfrm>
            <a:off x="522784" y="1398718"/>
            <a:ext cx="1578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Planificación 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g3f9db6a4e0d_0_0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Riesgos</a:t>
            </a:r>
            <a:endParaRPr/>
          </a:p>
        </p:txBody>
      </p:sp>
      <p:sp>
        <p:nvSpPr>
          <p:cNvPr id="397" name="Google Shape;397;g3f9db6a4e0d_0_0"/>
          <p:cNvSpPr txBox="1"/>
          <p:nvPr>
            <p:ph idx="4294967295" type="subTitle"/>
          </p:nvPr>
        </p:nvSpPr>
        <p:spPr>
          <a:xfrm>
            <a:off x="418376" y="1774925"/>
            <a:ext cx="1928700" cy="1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/>
              <a:t>Dependencia de personas señantes externas y de la validación experta.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Mitigación</a:t>
            </a:r>
            <a:r>
              <a:rPr lang="en" sz="1200"/>
              <a:t>: coordinación temprana con la persona experta en LSCh y colchón de tiempo en Sprint 6 para regrabar si es necesario. </a:t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398" name="Google Shape;398;g3f9db6a4e0d_0_0"/>
          <p:cNvSpPr/>
          <p:nvPr/>
        </p:nvSpPr>
        <p:spPr>
          <a:xfrm>
            <a:off x="2529000" y="1195625"/>
            <a:ext cx="1970100" cy="27366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9db6a4e0d_0_0"/>
          <p:cNvSpPr txBox="1"/>
          <p:nvPr>
            <p:ph idx="4294967295" type="subTitle"/>
          </p:nvPr>
        </p:nvSpPr>
        <p:spPr>
          <a:xfrm>
            <a:off x="2724749" y="1398718"/>
            <a:ext cx="1578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Seguridad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g3f9db6a4e0d_0_0"/>
          <p:cNvSpPr txBox="1"/>
          <p:nvPr>
            <p:ph idx="4294967295" type="subTitle"/>
          </p:nvPr>
        </p:nvSpPr>
        <p:spPr>
          <a:xfrm>
            <a:off x="2660263" y="1790639"/>
            <a:ext cx="19287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/>
              <a:t>Exposición de datos sensibles (biométricos y de salud).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Mitigación</a:t>
            </a:r>
            <a:r>
              <a:rPr lang="en" sz="1200"/>
              <a:t>: cifrado, consentimiento informado y cumplimiento de Ley 19.628/21.719. </a:t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401" name="Google Shape;401;g3f9db6a4e0d_0_0"/>
          <p:cNvSpPr txBox="1"/>
          <p:nvPr>
            <p:ph idx="4294967295" type="subTitle"/>
          </p:nvPr>
        </p:nvSpPr>
        <p:spPr>
          <a:xfrm>
            <a:off x="4926737" y="1398718"/>
            <a:ext cx="1578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Calidad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g3f9db6a4e0d_0_0"/>
          <p:cNvSpPr txBox="1"/>
          <p:nvPr>
            <p:ph idx="4294967295" type="subTitle"/>
          </p:nvPr>
        </p:nvSpPr>
        <p:spPr>
          <a:xfrm>
            <a:off x="4837525" y="1790650"/>
            <a:ext cx="18891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/>
              <a:t>Flujo irreal o vocabulario mal validado.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Mitigación:</a:t>
            </a:r>
            <a:r>
              <a:rPr lang="en" sz="1200"/>
              <a:t> validación del diagrama de procesos y de cada seña con la persona experta en LSCh. </a:t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  <p:sp>
        <p:nvSpPr>
          <p:cNvPr id="403" name="Google Shape;403;g3f9db6a4e0d_0_0"/>
          <p:cNvSpPr/>
          <p:nvPr/>
        </p:nvSpPr>
        <p:spPr>
          <a:xfrm>
            <a:off x="6883800" y="1195625"/>
            <a:ext cx="1970100" cy="27366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r>
              <a:t/>
            </a:r>
            <a:endParaRPr b="0" i="0" sz="12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9db6a4e0d_0_0"/>
          <p:cNvSpPr txBox="1"/>
          <p:nvPr>
            <p:ph idx="4294967295" type="subTitle"/>
          </p:nvPr>
        </p:nvSpPr>
        <p:spPr>
          <a:xfrm>
            <a:off x="7079563" y="1398718"/>
            <a:ext cx="1578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rPr b="1" lang="en" sz="143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Negocio</a:t>
            </a:r>
            <a:endParaRPr b="1" i="0" sz="143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g3f9db6a4e0d_0_0"/>
          <p:cNvSpPr txBox="1"/>
          <p:nvPr>
            <p:ph idx="4294967295" type="subTitle"/>
          </p:nvPr>
        </p:nvSpPr>
        <p:spPr>
          <a:xfrm>
            <a:off x="6975175" y="1887525"/>
            <a:ext cx="17874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52"/>
              <a:t>Vocabulario insuficiente para casos reales de atención.</a:t>
            </a:r>
            <a:endParaRPr sz="1252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52"/>
              <a:t> </a:t>
            </a:r>
            <a:r>
              <a:rPr b="1" lang="en" sz="1252"/>
              <a:t>Mitigación</a:t>
            </a:r>
            <a:r>
              <a:rPr lang="en" sz="1252"/>
              <a:t>: validación temprana de las 20-30 frases clave con foco en CESFAM. </a:t>
            </a:r>
            <a:endParaRPr sz="1252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52"/>
              <a:buFont typeface="Nunito Sans"/>
              <a:buNone/>
            </a:pPr>
            <a:r>
              <a:t/>
            </a:r>
            <a:endParaRPr sz="1252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g3f9d5485513_3_15" title="Proteger-las-historias-clinicas-de-los-pacientes-2-1024x576.jpg"/>
          <p:cNvPicPr preferRelativeResize="0"/>
          <p:nvPr/>
        </p:nvPicPr>
        <p:blipFill rotWithShape="1">
          <a:blip r:embed="rId3">
            <a:alphaModFix/>
          </a:blip>
          <a:srcRect b="0" l="29279" r="29284" t="0"/>
          <a:stretch/>
        </p:blipFill>
        <p:spPr>
          <a:xfrm>
            <a:off x="713103" y="539400"/>
            <a:ext cx="2994300" cy="4064700"/>
          </a:xfrm>
          <a:prstGeom prst="roundRect">
            <a:avLst>
              <a:gd fmla="val 9880" name="adj"/>
            </a:avLst>
          </a:prstGeom>
          <a:noFill/>
          <a:ln>
            <a:noFill/>
          </a:ln>
        </p:spPr>
      </p:pic>
      <p:sp>
        <p:nvSpPr>
          <p:cNvPr id="411" name="Google Shape;411;g3f9d5485513_3_15"/>
          <p:cNvSpPr/>
          <p:nvPr/>
        </p:nvSpPr>
        <p:spPr>
          <a:xfrm>
            <a:off x="843333" y="650988"/>
            <a:ext cx="420600" cy="4206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2875" rotWithShape="0" algn="bl" dir="5400000" dist="38100">
              <a:schemeClr val="accent6">
                <a:alpha val="2902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9d5485513_3_15"/>
          <p:cNvSpPr/>
          <p:nvPr/>
        </p:nvSpPr>
        <p:spPr>
          <a:xfrm>
            <a:off x="4501450" y="1298225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f9d5485513_3_15"/>
          <p:cNvSpPr/>
          <p:nvPr/>
        </p:nvSpPr>
        <p:spPr>
          <a:xfrm>
            <a:off x="6532075" y="1298200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f9d5485513_3_15"/>
          <p:cNvSpPr/>
          <p:nvPr/>
        </p:nvSpPr>
        <p:spPr>
          <a:xfrm>
            <a:off x="4501450" y="2949101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f9d5485513_3_15"/>
          <p:cNvSpPr/>
          <p:nvPr/>
        </p:nvSpPr>
        <p:spPr>
          <a:xfrm>
            <a:off x="6532075" y="2949101"/>
            <a:ext cx="1898700" cy="138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f9d5485513_3_15"/>
          <p:cNvSpPr txBox="1"/>
          <p:nvPr>
            <p:ph type="title"/>
          </p:nvPr>
        </p:nvSpPr>
        <p:spPr>
          <a:xfrm>
            <a:off x="4501450" y="368825"/>
            <a:ext cx="39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Seguridad</a:t>
            </a:r>
            <a:endParaRPr/>
          </a:p>
        </p:txBody>
      </p:sp>
      <p:sp>
        <p:nvSpPr>
          <p:cNvPr id="417" name="Google Shape;417;g3f9d5485513_3_15"/>
          <p:cNvSpPr txBox="1"/>
          <p:nvPr>
            <p:ph idx="1" type="subTitle"/>
          </p:nvPr>
        </p:nvSpPr>
        <p:spPr>
          <a:xfrm>
            <a:off x="4501475" y="1395650"/>
            <a:ext cx="1898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Datos mínimos </a:t>
            </a:r>
            <a:endParaRPr/>
          </a:p>
        </p:txBody>
      </p:sp>
      <p:sp>
        <p:nvSpPr>
          <p:cNvPr id="418" name="Google Shape;418;g3f9d5485513_3_15"/>
          <p:cNvSpPr txBox="1"/>
          <p:nvPr>
            <p:ph idx="2" type="subTitle"/>
          </p:nvPr>
        </p:nvSpPr>
        <p:spPr>
          <a:xfrm>
            <a:off x="4651476" y="1686233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No almacenar RUT, nombre ni información clínica. </a:t>
            </a:r>
            <a:endParaRPr/>
          </a:p>
        </p:txBody>
      </p:sp>
      <p:sp>
        <p:nvSpPr>
          <p:cNvPr id="419" name="Google Shape;419;g3f9d5485513_3_15"/>
          <p:cNvSpPr txBox="1"/>
          <p:nvPr>
            <p:ph idx="3" type="subTitle"/>
          </p:nvPr>
        </p:nvSpPr>
        <p:spPr>
          <a:xfrm>
            <a:off x="6598675" y="1395650"/>
            <a:ext cx="1757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Privacidad de cámara </a:t>
            </a:r>
            <a:endParaRPr/>
          </a:p>
        </p:txBody>
      </p:sp>
      <p:sp>
        <p:nvSpPr>
          <p:cNvPr id="420" name="Google Shape;420;g3f9d5485513_3_15"/>
          <p:cNvSpPr txBox="1"/>
          <p:nvPr>
            <p:ph idx="4" type="subTitle"/>
          </p:nvPr>
        </p:nvSpPr>
        <p:spPr>
          <a:xfrm>
            <a:off x="6547375" y="1863725"/>
            <a:ext cx="18603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El </a:t>
            </a:r>
            <a:r>
              <a:rPr lang="en"/>
              <a:t>vídeo</a:t>
            </a:r>
            <a:r>
              <a:rPr lang="en"/>
              <a:t> de atención se almacena por 24 horas, luego se borra </a:t>
            </a:r>
            <a:endParaRPr/>
          </a:p>
        </p:txBody>
      </p:sp>
      <p:sp>
        <p:nvSpPr>
          <p:cNvPr id="421" name="Google Shape;421;g3f9d5485513_3_15"/>
          <p:cNvSpPr txBox="1"/>
          <p:nvPr>
            <p:ph idx="5" type="subTitle"/>
          </p:nvPr>
        </p:nvSpPr>
        <p:spPr>
          <a:xfrm>
            <a:off x="4650701" y="2918372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Dataset protegido </a:t>
            </a:r>
            <a:endParaRPr/>
          </a:p>
        </p:txBody>
      </p:sp>
      <p:sp>
        <p:nvSpPr>
          <p:cNvPr id="422" name="Google Shape;422;g3f9d5485513_3_15"/>
          <p:cNvSpPr txBox="1"/>
          <p:nvPr>
            <p:ph idx="6" type="subTitle"/>
          </p:nvPr>
        </p:nvSpPr>
        <p:spPr>
          <a:xfrm>
            <a:off x="4501475" y="3393675"/>
            <a:ext cx="18987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Grabaciones únicamente con consentimiento y acceso restringido </a:t>
            </a:r>
            <a:endParaRPr/>
          </a:p>
        </p:txBody>
      </p:sp>
      <p:sp>
        <p:nvSpPr>
          <p:cNvPr id="423" name="Google Shape;423;g3f9d5485513_3_15"/>
          <p:cNvSpPr txBox="1"/>
          <p:nvPr>
            <p:ph idx="7" type="subTitle"/>
          </p:nvPr>
        </p:nvSpPr>
        <p:spPr>
          <a:xfrm>
            <a:off x="6579525" y="3048050"/>
            <a:ext cx="186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Acceso seguro </a:t>
            </a:r>
            <a:endParaRPr/>
          </a:p>
        </p:txBody>
      </p:sp>
      <p:sp>
        <p:nvSpPr>
          <p:cNvPr id="424" name="Google Shape;424;g3f9d5485513_3_15"/>
          <p:cNvSpPr txBox="1"/>
          <p:nvPr>
            <p:ph idx="8" type="subTitle"/>
          </p:nvPr>
        </p:nvSpPr>
        <p:spPr>
          <a:xfrm>
            <a:off x="6682126" y="3354363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Autenticación, HTTPS y credenciales fuera de GitHub. </a:t>
            </a:r>
            <a:endParaRPr/>
          </a:p>
        </p:txBody>
      </p:sp>
      <p:grpSp>
        <p:nvGrpSpPr>
          <p:cNvPr id="425" name="Google Shape;425;g3f9d5485513_3_15"/>
          <p:cNvGrpSpPr/>
          <p:nvPr/>
        </p:nvGrpSpPr>
        <p:grpSpPr>
          <a:xfrm>
            <a:off x="964163" y="836438"/>
            <a:ext cx="178925" cy="49725"/>
            <a:chOff x="964163" y="836438"/>
            <a:chExt cx="178925" cy="49725"/>
          </a:xfrm>
        </p:grpSpPr>
        <p:sp>
          <p:nvSpPr>
            <p:cNvPr id="426" name="Google Shape;426;g3f9d5485513_3_15"/>
            <p:cNvSpPr/>
            <p:nvPr/>
          </p:nvSpPr>
          <p:spPr>
            <a:xfrm>
              <a:off x="1028763" y="836438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1000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0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1000" y="405"/>
                  </a:cubicBezTo>
                  <a:close/>
                  <a:moveTo>
                    <a:pt x="1000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1000" y="1988"/>
                  </a:cubicBezTo>
                  <a:cubicBezTo>
                    <a:pt x="1548" y="1988"/>
                    <a:pt x="1988" y="1548"/>
                    <a:pt x="1988" y="1000"/>
                  </a:cubicBezTo>
                  <a:cubicBezTo>
                    <a:pt x="1988" y="441"/>
                    <a:pt x="1548" y="0"/>
                    <a:pt x="1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f9d5485513_3_15"/>
            <p:cNvSpPr/>
            <p:nvPr/>
          </p:nvSpPr>
          <p:spPr>
            <a:xfrm>
              <a:off x="964163" y="836438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989" y="405"/>
                  </a:moveTo>
                  <a:cubicBezTo>
                    <a:pt x="1322" y="405"/>
                    <a:pt x="1584" y="667"/>
                    <a:pt x="1584" y="1000"/>
                  </a:cubicBezTo>
                  <a:cubicBezTo>
                    <a:pt x="1584" y="1322"/>
                    <a:pt x="1322" y="1596"/>
                    <a:pt x="989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989" y="405"/>
                  </a:cubicBezTo>
                  <a:close/>
                  <a:moveTo>
                    <a:pt x="989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989" y="1988"/>
                  </a:cubicBezTo>
                  <a:cubicBezTo>
                    <a:pt x="1536" y="1988"/>
                    <a:pt x="1989" y="1548"/>
                    <a:pt x="1989" y="1000"/>
                  </a:cubicBezTo>
                  <a:cubicBezTo>
                    <a:pt x="1989" y="441"/>
                    <a:pt x="1536" y="0"/>
                    <a:pt x="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f9d5485513_3_15"/>
            <p:cNvSpPr/>
            <p:nvPr/>
          </p:nvSpPr>
          <p:spPr>
            <a:xfrm>
              <a:off x="1093338" y="836438"/>
              <a:ext cx="49750" cy="49725"/>
            </a:xfrm>
            <a:custGeom>
              <a:rect b="b" l="l" r="r" t="t"/>
              <a:pathLst>
                <a:path extrusionOk="0" h="1989" w="1990">
                  <a:moveTo>
                    <a:pt x="1001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1" y="1596"/>
                  </a:cubicBezTo>
                  <a:cubicBezTo>
                    <a:pt x="668" y="1596"/>
                    <a:pt x="406" y="1322"/>
                    <a:pt x="406" y="1000"/>
                  </a:cubicBezTo>
                  <a:cubicBezTo>
                    <a:pt x="406" y="667"/>
                    <a:pt x="668" y="405"/>
                    <a:pt x="1001" y="405"/>
                  </a:cubicBezTo>
                  <a:close/>
                  <a:moveTo>
                    <a:pt x="1001" y="0"/>
                  </a:moveTo>
                  <a:cubicBezTo>
                    <a:pt x="453" y="0"/>
                    <a:pt x="1" y="441"/>
                    <a:pt x="1" y="1000"/>
                  </a:cubicBezTo>
                  <a:cubicBezTo>
                    <a:pt x="1" y="1548"/>
                    <a:pt x="453" y="1988"/>
                    <a:pt x="1001" y="1988"/>
                  </a:cubicBezTo>
                  <a:cubicBezTo>
                    <a:pt x="1549" y="1988"/>
                    <a:pt x="1989" y="1548"/>
                    <a:pt x="1989" y="1000"/>
                  </a:cubicBezTo>
                  <a:cubicBezTo>
                    <a:pt x="1989" y="441"/>
                    <a:pt x="1549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g3f9d5485513_3_15"/>
          <p:cNvSpPr txBox="1"/>
          <p:nvPr/>
        </p:nvSpPr>
        <p:spPr>
          <a:xfrm>
            <a:off x="4478375" y="4387100"/>
            <a:ext cx="392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SeñaText no realiza diagnósticos ni decisiones clínicas. 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g3f9bca7d2e9_1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88" y="87550"/>
            <a:ext cx="773881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9d5485513_0_56"/>
          <p:cNvSpPr/>
          <p:nvPr/>
        </p:nvSpPr>
        <p:spPr>
          <a:xfrm>
            <a:off x="713100" y="539400"/>
            <a:ext cx="6267300" cy="34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9d5485513_0_56"/>
          <p:cNvSpPr txBox="1"/>
          <p:nvPr>
            <p:ph type="title"/>
          </p:nvPr>
        </p:nvSpPr>
        <p:spPr>
          <a:xfrm>
            <a:off x="1111950" y="728188"/>
            <a:ext cx="3346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Conclusión</a:t>
            </a:r>
            <a:endParaRPr/>
          </a:p>
        </p:txBody>
      </p:sp>
      <p:sp>
        <p:nvSpPr>
          <p:cNvPr id="441" name="Google Shape;441;g3f9d5485513_0_56"/>
          <p:cNvSpPr txBox="1"/>
          <p:nvPr>
            <p:ph idx="1" type="subTitle"/>
          </p:nvPr>
        </p:nvSpPr>
        <p:spPr>
          <a:xfrm>
            <a:off x="1111950" y="1331875"/>
            <a:ext cx="5623500" cy="2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SeñaText propone una solución acotada y viable para apoyar la comunicación entre personas sordas usuarias de LSCh y funcionarios de CESFAM de la Región Metropolitana. Mediante un flujo guiado, un vocabulario cerrado y reconocimiento de señas aisladas, el proyecto busca desarrollar un MVP funcional que reduzca barreras de comunicación en atenciones breves, manteniendo un enfoque responsable, medible y acorde al tiempo disponible para su desarrollo.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442" name="Google Shape;442;g3f9d5485513_0_56"/>
          <p:cNvGrpSpPr/>
          <p:nvPr/>
        </p:nvGrpSpPr>
        <p:grpSpPr>
          <a:xfrm>
            <a:off x="6361050" y="3511800"/>
            <a:ext cx="747900" cy="457500"/>
            <a:chOff x="3573175" y="2661350"/>
            <a:chExt cx="747900" cy="457500"/>
          </a:xfrm>
        </p:grpSpPr>
        <p:grpSp>
          <p:nvGrpSpPr>
            <p:cNvPr id="443" name="Google Shape;443;g3f9d5485513_0_56"/>
            <p:cNvGrpSpPr/>
            <p:nvPr/>
          </p:nvGrpSpPr>
          <p:grpSpPr>
            <a:xfrm>
              <a:off x="3573175" y="2661350"/>
              <a:ext cx="747900" cy="457500"/>
              <a:chOff x="3573175" y="2661350"/>
              <a:chExt cx="747900" cy="457500"/>
            </a:xfrm>
          </p:grpSpPr>
          <p:sp>
            <p:nvSpPr>
              <p:cNvPr id="444" name="Google Shape;444;g3f9d5485513_0_56"/>
              <p:cNvSpPr/>
              <p:nvPr/>
            </p:nvSpPr>
            <p:spPr>
              <a:xfrm>
                <a:off x="3573175" y="2661350"/>
                <a:ext cx="747900" cy="4575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rotWithShape="0" algn="bl" dir="5400000" dist="95250">
                  <a:schemeClr val="accent2">
                    <a:alpha val="2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5" name="Google Shape;445;g3f9d5485513_0_56"/>
              <p:cNvGrpSpPr/>
              <p:nvPr/>
            </p:nvGrpSpPr>
            <p:grpSpPr>
              <a:xfrm rot="-5400000">
                <a:off x="3847175" y="2785196"/>
                <a:ext cx="199887" cy="209781"/>
                <a:chOff x="3550239" y="2410401"/>
                <a:chExt cx="90500" cy="94975"/>
              </a:xfrm>
            </p:grpSpPr>
            <p:sp>
              <p:nvSpPr>
                <p:cNvPr id="446" name="Google Shape;446;g3f9d5485513_0_56"/>
                <p:cNvSpPr/>
                <p:nvPr/>
              </p:nvSpPr>
              <p:spPr>
                <a:xfrm>
                  <a:off x="3590414" y="2410401"/>
                  <a:ext cx="10150" cy="94975"/>
                </a:xfrm>
                <a:custGeom>
                  <a:rect b="b" l="l" r="r" t="t"/>
                  <a:pathLst>
                    <a:path extrusionOk="0" h="3799" w="406">
                      <a:moveTo>
                        <a:pt x="203" y="0"/>
                      </a:moveTo>
                      <a:cubicBezTo>
                        <a:pt x="96" y="0"/>
                        <a:pt x="1" y="96"/>
                        <a:pt x="1" y="203"/>
                      </a:cubicBezTo>
                      <a:lnTo>
                        <a:pt x="1" y="3596"/>
                      </a:lnTo>
                      <a:cubicBezTo>
                        <a:pt x="1" y="3715"/>
                        <a:pt x="96" y="3798"/>
                        <a:pt x="203" y="3798"/>
                      </a:cubicBezTo>
                      <a:cubicBezTo>
                        <a:pt x="310" y="3798"/>
                        <a:pt x="406" y="3715"/>
                        <a:pt x="406" y="3608"/>
                      </a:cubicBezTo>
                      <a:lnTo>
                        <a:pt x="406" y="203"/>
                      </a:lnTo>
                      <a:cubicBezTo>
                        <a:pt x="406" y="96"/>
                        <a:pt x="310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g3f9d5485513_0_56"/>
                <p:cNvSpPr/>
                <p:nvPr/>
              </p:nvSpPr>
              <p:spPr>
                <a:xfrm>
                  <a:off x="3550239" y="2455576"/>
                  <a:ext cx="90500" cy="49800"/>
                </a:xfrm>
                <a:custGeom>
                  <a:rect b="b" l="l" r="r" t="t"/>
                  <a:pathLst>
                    <a:path extrusionOk="0" h="1992" w="3620">
                      <a:moveTo>
                        <a:pt x="221" y="0"/>
                      </a:moveTo>
                      <a:cubicBezTo>
                        <a:pt x="170" y="0"/>
                        <a:pt x="120" y="21"/>
                        <a:pt x="84" y="63"/>
                      </a:cubicBezTo>
                      <a:cubicBezTo>
                        <a:pt x="0" y="134"/>
                        <a:pt x="0" y="265"/>
                        <a:pt x="84" y="348"/>
                      </a:cubicBezTo>
                      <a:lnTo>
                        <a:pt x="1667" y="1932"/>
                      </a:lnTo>
                      <a:cubicBezTo>
                        <a:pt x="1715" y="1979"/>
                        <a:pt x="1763" y="1991"/>
                        <a:pt x="1810" y="1991"/>
                      </a:cubicBezTo>
                      <a:cubicBezTo>
                        <a:pt x="1858" y="1991"/>
                        <a:pt x="1917" y="1979"/>
                        <a:pt x="1953" y="1932"/>
                      </a:cubicBezTo>
                      <a:lnTo>
                        <a:pt x="3537" y="348"/>
                      </a:lnTo>
                      <a:cubicBezTo>
                        <a:pt x="3620" y="265"/>
                        <a:pt x="3620" y="134"/>
                        <a:pt x="3537" y="63"/>
                      </a:cubicBezTo>
                      <a:cubicBezTo>
                        <a:pt x="3501" y="21"/>
                        <a:pt x="3450" y="0"/>
                        <a:pt x="3400" y="0"/>
                      </a:cubicBezTo>
                      <a:cubicBezTo>
                        <a:pt x="3349" y="0"/>
                        <a:pt x="3298" y="21"/>
                        <a:pt x="3263" y="63"/>
                      </a:cubicBezTo>
                      <a:lnTo>
                        <a:pt x="1810" y="1515"/>
                      </a:lnTo>
                      <a:lnTo>
                        <a:pt x="358" y="63"/>
                      </a:lnTo>
                      <a:cubicBezTo>
                        <a:pt x="322" y="21"/>
                        <a:pt x="271" y="0"/>
                        <a:pt x="2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8" name="Google Shape;448;g3f9d5485513_0_56"/>
            <p:cNvSpPr/>
            <p:nvPr/>
          </p:nvSpPr>
          <p:spPr>
            <a:xfrm>
              <a:off x="3573175" y="2661350"/>
              <a:ext cx="747900" cy="4575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ical Technology Advances by Slidesgo">
  <a:themeElements>
    <a:clrScheme name="Simple Light">
      <a:dk1>
        <a:srgbClr val="1F2B6C"/>
      </a:dk1>
      <a:lt1>
        <a:srgbClr val="FFFFFF"/>
      </a:lt1>
      <a:dk2>
        <a:srgbClr val="000000"/>
      </a:dk2>
      <a:lt2>
        <a:srgbClr val="EEEEEE"/>
      </a:lt2>
      <a:accent1>
        <a:srgbClr val="E7F7FF"/>
      </a:accent1>
      <a:accent2>
        <a:srgbClr val="159FED"/>
      </a:accent2>
      <a:accent3>
        <a:srgbClr val="73E1CD"/>
      </a:accent3>
      <a:accent4>
        <a:srgbClr val="8292E8"/>
      </a:accent4>
      <a:accent5>
        <a:srgbClr val="8292E8"/>
      </a:accent5>
      <a:accent6>
        <a:srgbClr val="1F2B6C"/>
      </a:accent6>
      <a:hlink>
        <a:srgbClr val="1F2B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